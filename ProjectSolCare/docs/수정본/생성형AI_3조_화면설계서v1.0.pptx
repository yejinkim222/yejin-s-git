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9" r:id="rId3"/>
    <p:sldId id="270" r:id="rId4"/>
    <p:sldId id="271" r:id="rId5"/>
    <p:sldId id="272" r:id="rId6"/>
    <p:sldId id="261" r:id="rId7"/>
    <p:sldId id="26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CE5E"/>
    <a:srgbClr val="F5E298"/>
    <a:srgbClr val="DEDEDE"/>
    <a:srgbClr val="FFF0B3"/>
    <a:srgbClr val="A8A8A8"/>
    <a:srgbClr val="FFFBEB"/>
    <a:srgbClr val="0042C7"/>
    <a:srgbClr val="F2F2F2"/>
    <a:srgbClr val="D9D9D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76" autoAdjust="0"/>
    <p:restoredTop sz="94660"/>
  </p:normalViewPr>
  <p:slideViewPr>
    <p:cSldViewPr snapToGrid="0">
      <p:cViewPr varScale="1">
        <p:scale>
          <a:sx n="64" d="100"/>
          <a:sy n="64" d="100"/>
        </p:scale>
        <p:origin x="6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527BF-6DE8-48F2-A176-8B71E0046B10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5A6-2160-41BA-B62E-4A1CB0FC5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81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5A6-2160-41BA-B62E-4A1CB0FC5C8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8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58AC-779F-8CE2-A46A-AA34637C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834FE09E-F6CE-46DE-B5B5-857269CF1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4" y="1206481"/>
            <a:ext cx="8409718" cy="4198230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0F01DE0-CF5D-383C-6F6E-ADBA48571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07982"/>
              </p:ext>
            </p:extLst>
          </p:nvPr>
        </p:nvGraphicFramePr>
        <p:xfrm>
          <a:off x="8899584" y="1207698"/>
          <a:ext cx="3019637" cy="33384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442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메인 페이지로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(치매 예측 페이지, MCI 예측 페이지)로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생성형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챗봇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12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 센터 안내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12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이미지 수동으로 넘기기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이미지 자동으로 화면 전환</a:t>
                      </a:r>
                      <a:endParaRPr lang="ko-KR" altLang="ko-KR" sz="1200" dirty="0"/>
                    </a:p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(</a:t>
                      </a:r>
                      <a:r>
                        <a:rPr lang="ko-KR" altLang="en-US" sz="1200" dirty="0" err="1"/>
                        <a:t>캐러셀</a:t>
                      </a:r>
                      <a:r>
                        <a:rPr lang="ko-KR" altLang="en-US" sz="1200" dirty="0"/>
                        <a:t>)</a:t>
                      </a:r>
                    </a:p>
                    <a:p>
                      <a:pPr lvl="0" algn="ctr">
                        <a:buNone/>
                      </a:pP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88123A0-C258-DF2D-D6C5-DD65BAAB1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239236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메인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메인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23" name="타원 22">
            <a:extLst>
              <a:ext uri="{FF2B5EF4-FFF2-40B4-BE49-F238E27FC236}">
                <a16:creationId xmlns:a16="http://schemas.microsoft.com/office/drawing/2014/main" id="{EEE9E882-55CA-9343-2228-BFFC01F8A438}"/>
              </a:ext>
            </a:extLst>
          </p:cNvPr>
          <p:cNvSpPr/>
          <p:nvPr/>
        </p:nvSpPr>
        <p:spPr>
          <a:xfrm>
            <a:off x="1025653" y="1395404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76FEC6B-7396-E80D-8077-16AC1E759788}"/>
              </a:ext>
            </a:extLst>
          </p:cNvPr>
          <p:cNvSpPr/>
          <p:nvPr/>
        </p:nvSpPr>
        <p:spPr>
          <a:xfrm>
            <a:off x="6416283" y="1835972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  <a:endParaRPr lang="ko-KR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455F91B-FF53-48B6-3259-2E806BEA6351}"/>
              </a:ext>
            </a:extLst>
          </p:cNvPr>
          <p:cNvSpPr/>
          <p:nvPr/>
        </p:nvSpPr>
        <p:spPr>
          <a:xfrm>
            <a:off x="462655" y="396750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5</a:t>
            </a:r>
            <a:endParaRPr lang="ko-KR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2588D49-4613-308C-5D58-E79DCEC162A0}"/>
              </a:ext>
            </a:extLst>
          </p:cNvPr>
          <p:cNvSpPr/>
          <p:nvPr/>
        </p:nvSpPr>
        <p:spPr>
          <a:xfrm>
            <a:off x="7306073" y="1453289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  <a:endParaRPr lang="ko-KR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87B43C5-2032-426A-4E85-8ADC325338BB}"/>
              </a:ext>
            </a:extLst>
          </p:cNvPr>
          <p:cNvSpPr/>
          <p:nvPr/>
        </p:nvSpPr>
        <p:spPr>
          <a:xfrm>
            <a:off x="8143910" y="1453289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  <a:endParaRPr lang="ko-KR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3C5176A-6640-987D-3DB0-3324E9CF4027}"/>
              </a:ext>
            </a:extLst>
          </p:cNvPr>
          <p:cNvSpPr/>
          <p:nvPr/>
        </p:nvSpPr>
        <p:spPr>
          <a:xfrm>
            <a:off x="5865868" y="4182501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C20F73D-F7AE-41DA-B079-E17ABCFF9121}"/>
              </a:ext>
            </a:extLst>
          </p:cNvPr>
          <p:cNvSpPr/>
          <p:nvPr/>
        </p:nvSpPr>
        <p:spPr>
          <a:xfrm>
            <a:off x="309994" y="1206481"/>
            <a:ext cx="8407802" cy="41982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664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2005-6487-DB9D-D6E6-A3F42735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1D69F7CC-F9C9-4982-85F5-8E8561F7DD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040"/>
          <a:stretch/>
        </p:blipFill>
        <p:spPr>
          <a:xfrm>
            <a:off x="285110" y="1206479"/>
            <a:ext cx="8432686" cy="535861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AF04E2-693D-1021-B063-A96BD20C3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315619"/>
              </p:ext>
            </p:extLst>
          </p:nvPr>
        </p:nvGraphicFramePr>
        <p:xfrm>
          <a:off x="8899584" y="1207698"/>
          <a:ext cx="3019637" cy="37178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4672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나이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성별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체중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교육수준등 입력 필드가 제공되어야 함</a:t>
                      </a:r>
                      <a:endParaRPr lang="ko-KR" sz="12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흡연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음주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운동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식습관 등 드롭다운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라디오 버튼 제공</a:t>
                      </a:r>
                      <a:endParaRPr lang="ko-KR" sz="1200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670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수면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만성질환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가족력 등 체크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드롭다운 제공</a:t>
                      </a:r>
                      <a:endParaRPr lang="ko-KR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670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/>
                        <a:t>심박수</a:t>
                      </a:r>
                      <a:r>
                        <a:rPr lang="en-US" altLang="ko-KR" sz="1200"/>
                        <a:t>·</a:t>
                      </a:r>
                      <a:r>
                        <a:rPr lang="ko-KR" altLang="en-US" sz="1200"/>
                        <a:t>혈중 산소 농도 등 생체 지표 입력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미입력시 평균값 자동 입력됨</a:t>
                      </a:r>
                      <a:r>
                        <a:rPr lang="en-US" altLang="ko-KR" sz="1200"/>
                        <a:t>)</a:t>
                      </a:r>
                      <a:endParaRPr lang="ko-KR" altLang="ko-KR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약 복용 이력 입력</a:t>
                      </a:r>
                      <a:endParaRPr lang="en-US" altLang="ko-KR" sz="1200"/>
                    </a:p>
                    <a:p>
                      <a:pPr lvl="0" algn="ctr">
                        <a:buNone/>
                      </a:pP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미입력시 평균값 자동 입력됨</a:t>
                      </a:r>
                      <a:r>
                        <a:rPr lang="en-US" altLang="ko-KR" sz="1200"/>
                        <a:t>)</a:t>
                      </a:r>
                      <a:endParaRPr lang="ko-KR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dirty="0"/>
                        <a:t>‘예측 시작하기’ 버튼 클릭 시 결과 페이지로 이동</a:t>
                      </a:r>
                      <a:endParaRPr 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B9E750-E505-5AF7-FF5D-26EBE59F0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849962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치매 예측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노인의 건강 및 환경에 의한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위험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확률 예측을 위한 정보 입력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100" name="타원 99">
            <a:extLst>
              <a:ext uri="{FF2B5EF4-FFF2-40B4-BE49-F238E27FC236}">
                <a16:creationId xmlns:a16="http://schemas.microsoft.com/office/drawing/2014/main" id="{7C805D0A-3E33-CAE6-EB8E-51B160CB9ACC}"/>
              </a:ext>
            </a:extLst>
          </p:cNvPr>
          <p:cNvSpPr/>
          <p:nvPr/>
        </p:nvSpPr>
        <p:spPr>
          <a:xfrm>
            <a:off x="3184788" y="1840475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A4E1C6D-2944-E09F-5534-235091E53654}"/>
              </a:ext>
            </a:extLst>
          </p:cNvPr>
          <p:cNvSpPr/>
          <p:nvPr/>
        </p:nvSpPr>
        <p:spPr>
          <a:xfrm>
            <a:off x="2959713" y="2904455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490F8AC-A623-38AE-E52E-5E507A49024D}"/>
              </a:ext>
            </a:extLst>
          </p:cNvPr>
          <p:cNvSpPr/>
          <p:nvPr/>
        </p:nvSpPr>
        <p:spPr>
          <a:xfrm>
            <a:off x="2959713" y="3885784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  <a:endParaRPr lang="ko-KR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FCD2AB9-A6D5-9C7F-BA0B-2C53EBE5346B}"/>
              </a:ext>
            </a:extLst>
          </p:cNvPr>
          <p:cNvSpPr/>
          <p:nvPr/>
        </p:nvSpPr>
        <p:spPr>
          <a:xfrm>
            <a:off x="2900001" y="5120563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12F7953-5935-C423-2112-A0E45ACE7541}"/>
              </a:ext>
            </a:extLst>
          </p:cNvPr>
          <p:cNvSpPr/>
          <p:nvPr/>
        </p:nvSpPr>
        <p:spPr>
          <a:xfrm>
            <a:off x="2822838" y="5796619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5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79F461E-5A95-2B05-5252-C2DAF96914BA}"/>
              </a:ext>
            </a:extLst>
          </p:cNvPr>
          <p:cNvSpPr/>
          <p:nvPr/>
        </p:nvSpPr>
        <p:spPr>
          <a:xfrm>
            <a:off x="285110" y="1206480"/>
            <a:ext cx="8432686" cy="53586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2B23EAF-80B3-ACA0-CD64-A1A4915F1D08}"/>
              </a:ext>
            </a:extLst>
          </p:cNvPr>
          <p:cNvSpPr/>
          <p:nvPr/>
        </p:nvSpPr>
        <p:spPr>
          <a:xfrm>
            <a:off x="5360566" y="6011611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984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BCA6-E89D-FBE6-EC0B-781446B8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E27B0A38-7CF3-4980-8561-1A38EDE56A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0" r="7870" b="946"/>
          <a:stretch/>
        </p:blipFill>
        <p:spPr>
          <a:xfrm>
            <a:off x="297664" y="1206479"/>
            <a:ext cx="8407802" cy="522550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6F771F7-CF0D-029A-F49B-09EB45ABD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555525"/>
              </p:ext>
            </p:extLst>
          </p:nvPr>
        </p:nvGraphicFramePr>
        <p:xfrm>
          <a:off x="8899584" y="1207698"/>
          <a:ext cx="3019637" cy="3200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5682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/>
                        <a:t>반원형 도넛 게이지 차트로 치매 발생 확률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/>
                        <a:t>예측 결과 텍스트 제공 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낮음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보통</a:t>
                      </a:r>
                      <a:r>
                        <a:rPr lang="en-US" altLang="ko-KR" sz="1200"/>
                        <a:t>/</a:t>
                      </a:r>
                      <a:r>
                        <a:rPr lang="ko-KR" altLang="en-US" sz="1200"/>
                        <a:t>높음</a:t>
                      </a:r>
                      <a:r>
                        <a:rPr lang="en-US" altLang="ko-KR" sz="1200"/>
                        <a:t>)</a:t>
                      </a:r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837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/>
                        <a:t>주요 영향 요인 </a:t>
                      </a:r>
                      <a:r>
                        <a:rPr lang="en-US" altLang="ko-KR" sz="1200"/>
                        <a:t>5</a:t>
                      </a:r>
                      <a:r>
                        <a:rPr lang="ko-KR" altLang="en-US" sz="1200"/>
                        <a:t>개 가로 막대 그래프 출력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입력 요약 정보 제공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나이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성별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생활 습관 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5AAD46-C0B8-E0E0-7F79-800EADE67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185247"/>
              </p:ext>
            </p:extLst>
          </p:nvPr>
        </p:nvGraphicFramePr>
        <p:xfrm>
          <a:off x="286397" y="262763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MCI 치매 예측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이전 페이지 입력을 바탕으로 예측된 결과를 시간과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그래프로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27" name="타원 26">
            <a:extLst>
              <a:ext uri="{FF2B5EF4-FFF2-40B4-BE49-F238E27FC236}">
                <a16:creationId xmlns:a16="http://schemas.microsoft.com/office/drawing/2014/main" id="{535FBB84-18EB-A9E8-B229-FE1B5F30F3D4}"/>
              </a:ext>
            </a:extLst>
          </p:cNvPr>
          <p:cNvSpPr/>
          <p:nvPr/>
        </p:nvSpPr>
        <p:spPr>
          <a:xfrm>
            <a:off x="5446443" y="163449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96BDA8E-BF77-9F5B-9DF6-44F554E58EF6}"/>
              </a:ext>
            </a:extLst>
          </p:cNvPr>
          <p:cNvSpPr/>
          <p:nvPr/>
        </p:nvSpPr>
        <p:spPr>
          <a:xfrm>
            <a:off x="5221368" y="5885392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5A63461-2F01-C208-97AD-B2863B700CC2}"/>
              </a:ext>
            </a:extLst>
          </p:cNvPr>
          <p:cNvSpPr/>
          <p:nvPr/>
        </p:nvSpPr>
        <p:spPr>
          <a:xfrm>
            <a:off x="6003528" y="2966772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980BB8F-0F99-07F3-0EDF-1C1FF4B532EC}"/>
              </a:ext>
            </a:extLst>
          </p:cNvPr>
          <p:cNvSpPr/>
          <p:nvPr/>
        </p:nvSpPr>
        <p:spPr>
          <a:xfrm>
            <a:off x="6304903" y="4602006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1393860-174B-4FC4-850A-6E1B8C453935}"/>
              </a:ext>
            </a:extLst>
          </p:cNvPr>
          <p:cNvSpPr/>
          <p:nvPr/>
        </p:nvSpPr>
        <p:spPr>
          <a:xfrm>
            <a:off x="297663" y="1206479"/>
            <a:ext cx="8407802" cy="51847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36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2005-6487-DB9D-D6E6-A3F42735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1EC0BD1-7437-493A-AE75-D902E6C37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79" y="1207698"/>
            <a:ext cx="8355452" cy="4987746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AF04E2-693D-1021-B063-A96BD20C3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705157"/>
              </p:ext>
            </p:extLst>
          </p:nvPr>
        </p:nvGraphicFramePr>
        <p:xfrm>
          <a:off x="8899584" y="1207699"/>
          <a:ext cx="3019637" cy="5226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3856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 항목은 나이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 수준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당뇨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고혈압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MMSE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점수 또는 경도인지장애 여부</a:t>
                      </a:r>
                      <a:endParaRPr lang="ko-K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46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나이와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MMSE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점수는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숫자 입력란 제공</a:t>
                      </a:r>
                      <a:endParaRPr lang="ko-KR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성별과 경도인지장애 여부는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라디오 버튼으로 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MMSE </a:t>
                      </a: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점수와 경도인지장애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여부는 선택된 항목에 따라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입력창이 활성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endParaRPr 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6255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당뇨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고혈압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여부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는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라디오 버튼 통해 입력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44679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교육 수준은 드롭다운 </a:t>
                      </a:r>
                      <a:endParaRPr lang="ko-KR" altLang="en-US"/>
                    </a:p>
                    <a:p>
                      <a:pPr lvl="0" algn="ctr"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통해 선택 가능</a:t>
                      </a:r>
                      <a:endParaRPr lang="ko-K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  <a:tr h="3851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</a:rPr>
                        <a:t>나이와 예측 기간은 정수로 입력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770165"/>
                  </a:ext>
                </a:extLst>
              </a:tr>
              <a:tr h="98091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buFont typeface="Arial"/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입력 완료 후 버튼 </a:t>
                      </a:r>
                      <a:r>
                        <a:rPr lang="ko-KR" altLang="en-US" sz="1200" b="0" i="0" u="none" strike="noStrike" noProof="0" dirty="0" err="1">
                          <a:solidFill>
                            <a:srgbClr val="000000"/>
                          </a:solidFill>
                        </a:rPr>
                        <a:t>클릭해야결과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 페이지로 제출 가능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  <a:p>
                      <a:pPr marL="0" lvl="0" indent="0" algn="ctr">
                        <a:buFont typeface="Arial"/>
                        <a:buNone/>
                      </a:pPr>
                      <a:r>
                        <a:rPr lang="ko-KR" altLang="en-US" sz="1200" b="0" i="0" u="none" strike="noStrike" noProof="0" dirty="0" err="1">
                          <a:solidFill>
                            <a:srgbClr val="000000"/>
                          </a:solidFill>
                        </a:rPr>
                        <a:t>미입력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 항목 존재 시 알림을 통해 </a:t>
                      </a:r>
                      <a:r>
                        <a:rPr lang="ko-KR" altLang="en-US" sz="1200" b="0" i="0" u="none" strike="noStrike" noProof="0" dirty="0" err="1">
                          <a:solidFill>
                            <a:srgbClr val="000000"/>
                          </a:solidFill>
                        </a:rPr>
                        <a:t>미기입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</a:rPr>
                        <a:t> 항목 알림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ko-KR" altLang="en-US" sz="1200" b="0" i="0" u="none" strike="noStrike" noProof="0" dirty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3318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B9E750-E505-5AF7-FF5D-26EBE59F0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512581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MCI 치매 예측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경도 인지 장애와 지병 여부를 통해 향후 치매 진행 확률 예측을 위한 정보 입력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100" name="타원 99">
            <a:extLst>
              <a:ext uri="{FF2B5EF4-FFF2-40B4-BE49-F238E27FC236}">
                <a16:creationId xmlns:a16="http://schemas.microsoft.com/office/drawing/2014/main" id="{7C805D0A-3E33-CAE6-EB8E-51B160CB9ACC}"/>
              </a:ext>
            </a:extLst>
          </p:cNvPr>
          <p:cNvSpPr/>
          <p:nvPr/>
        </p:nvSpPr>
        <p:spPr>
          <a:xfrm>
            <a:off x="2541541" y="3491233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ea typeface="맑은 고딕"/>
              </a:rPr>
              <a:t>5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A4E1C6D-2944-E09F-5534-235091E53654}"/>
              </a:ext>
            </a:extLst>
          </p:cNvPr>
          <p:cNvSpPr/>
          <p:nvPr/>
        </p:nvSpPr>
        <p:spPr>
          <a:xfrm>
            <a:off x="2091392" y="135985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1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490F8AC-A623-38AE-E52E-5E507A49024D}"/>
              </a:ext>
            </a:extLst>
          </p:cNvPr>
          <p:cNvSpPr/>
          <p:nvPr/>
        </p:nvSpPr>
        <p:spPr>
          <a:xfrm>
            <a:off x="6090943" y="3491233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6</a:t>
            </a:r>
            <a:endParaRPr lang="ko-KR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FCD2AB9-A6D5-9C7F-BA0B-2C53EBE5346B}"/>
              </a:ext>
            </a:extLst>
          </p:cNvPr>
          <p:cNvSpPr/>
          <p:nvPr/>
        </p:nvSpPr>
        <p:spPr>
          <a:xfrm>
            <a:off x="3329377" y="175309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2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12F7953-5935-C423-2112-A0E45ACE7541}"/>
              </a:ext>
            </a:extLst>
          </p:cNvPr>
          <p:cNvSpPr/>
          <p:nvPr/>
        </p:nvSpPr>
        <p:spPr>
          <a:xfrm>
            <a:off x="5057142" y="306124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4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EF861BA-B19E-F430-9A19-7109F20FD884}"/>
              </a:ext>
            </a:extLst>
          </p:cNvPr>
          <p:cNvSpPr/>
          <p:nvPr/>
        </p:nvSpPr>
        <p:spPr>
          <a:xfrm>
            <a:off x="3493489" y="5004863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8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2B23EAF-80B3-ACA0-CD64-A1A4915F1D08}"/>
              </a:ext>
            </a:extLst>
          </p:cNvPr>
          <p:cNvSpPr/>
          <p:nvPr/>
        </p:nvSpPr>
        <p:spPr>
          <a:xfrm>
            <a:off x="3314137" y="2232476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3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C2A16D3-74EC-95FA-8379-151FF8EC0B0B}"/>
              </a:ext>
            </a:extLst>
          </p:cNvPr>
          <p:cNvSpPr/>
          <p:nvPr/>
        </p:nvSpPr>
        <p:spPr>
          <a:xfrm>
            <a:off x="5865868" y="4431546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ea typeface="맑은 고딕"/>
              </a:rPr>
              <a:t>7</a:t>
            </a:r>
            <a:endParaRPr lang="ko-KR" altLang="en-US" sz="1400" dirty="0">
              <a:ea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A6D70D-B61B-4B61-AB72-150B7C76F37C}"/>
              </a:ext>
            </a:extLst>
          </p:cNvPr>
          <p:cNvSpPr/>
          <p:nvPr/>
        </p:nvSpPr>
        <p:spPr>
          <a:xfrm>
            <a:off x="286397" y="1207698"/>
            <a:ext cx="8355452" cy="4987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96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BCA6-E89D-FBE6-EC0B-781446B8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90CA0AA-5E9D-4A7F-B19D-DA673D908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47" y="1094015"/>
            <a:ext cx="6889433" cy="5574094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6F771F7-CF0D-029A-F49B-09EB45ABD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950767"/>
              </p:ext>
            </p:extLst>
          </p:nvPr>
        </p:nvGraphicFramePr>
        <p:xfrm>
          <a:off x="8899584" y="1207698"/>
          <a:ext cx="3019637" cy="35929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5682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축은 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0~1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의 확률로 출력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0.5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에 구분선 추가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축은 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1~n(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예측 결과가 중심이 되는 값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으로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출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력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548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사용자 입력 예측 기준 시점을 선으로 표시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사용자 입력 예측 시점과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모델 예측 출력을 비교하여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치매 위험도를 시각화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598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5</a:t>
                      </a:r>
                      <a:endParaRPr lang="ko-KR" alt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모델 예측 시점을 기반으로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임의로 생성한 그래프이므로</a:t>
                      </a:r>
                      <a:endParaRPr lang="en-US" altLang="ko-KR" sz="1200" b="0" i="0" u="none" strike="noStrike" noProof="0" dirty="0">
                        <a:solidFill>
                          <a:srgbClr val="000000"/>
                        </a:solidFill>
                        <a:latin typeface="Malgun Gothic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</a:rPr>
                        <a:t>경고 문구 표시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83768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5AAD46-C0B8-E0E0-7F79-800EADE67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830070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MCI 치매 예측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이전 페이지 입력을 바탕으로 예측된 결과를 시간과 </a:t>
                      </a: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그래프로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27" name="타원 26">
            <a:extLst>
              <a:ext uri="{FF2B5EF4-FFF2-40B4-BE49-F238E27FC236}">
                <a16:creationId xmlns:a16="http://schemas.microsoft.com/office/drawing/2014/main" id="{535FBB84-18EB-A9E8-B229-FE1B5F30F3D4}"/>
              </a:ext>
            </a:extLst>
          </p:cNvPr>
          <p:cNvSpPr/>
          <p:nvPr/>
        </p:nvSpPr>
        <p:spPr>
          <a:xfrm>
            <a:off x="1584947" y="2807731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96BDA8E-BF77-9F5B-9DF6-44F554E58EF6}"/>
              </a:ext>
            </a:extLst>
          </p:cNvPr>
          <p:cNvSpPr/>
          <p:nvPr/>
        </p:nvSpPr>
        <p:spPr>
          <a:xfrm>
            <a:off x="2689908" y="514064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5A63461-2F01-C208-97AD-B2863B700CC2}"/>
              </a:ext>
            </a:extLst>
          </p:cNvPr>
          <p:cNvSpPr/>
          <p:nvPr/>
        </p:nvSpPr>
        <p:spPr>
          <a:xfrm>
            <a:off x="6928322" y="397778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980BB8F-0F99-07F3-0EDF-1C1FF4B532EC}"/>
              </a:ext>
            </a:extLst>
          </p:cNvPr>
          <p:cNvSpPr/>
          <p:nvPr/>
        </p:nvSpPr>
        <p:spPr>
          <a:xfrm>
            <a:off x="3484903" y="187452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495C65-B37E-454F-9363-23268FD2DA0F}"/>
              </a:ext>
            </a:extLst>
          </p:cNvPr>
          <p:cNvSpPr/>
          <p:nvPr/>
        </p:nvSpPr>
        <p:spPr>
          <a:xfrm>
            <a:off x="1142047" y="1089247"/>
            <a:ext cx="6889433" cy="55740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3D8CBC9-5CA3-464F-94CD-C9883FCE0DD8}"/>
              </a:ext>
            </a:extLst>
          </p:cNvPr>
          <p:cNvSpPr/>
          <p:nvPr/>
        </p:nvSpPr>
        <p:spPr>
          <a:xfrm>
            <a:off x="1585564" y="5872168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9874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F9819-7734-10B2-8F38-1BD6B5AF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9CEE89-8722-4B4B-A4DB-297810F4A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79" y="1207697"/>
            <a:ext cx="8411278" cy="4628287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2455B7-4E6A-19A5-1874-B72FFCBCD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93330"/>
              </p:ext>
            </p:extLst>
          </p:nvPr>
        </p:nvGraphicFramePr>
        <p:xfrm>
          <a:off x="8899584" y="1207698"/>
          <a:ext cx="3019637" cy="15395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4422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지역을 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선택하기 전, 서울시 전체 지도 제공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4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가나다 순으로 서울시 구 정렬, 클릭 시 해당 지역의 치매 센터 위치가 지도에 표시됨.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F14EA1C-11F3-D072-78DF-9CDDEBDFC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163680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치매 센터 안내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치매 센터 안내 페이지 기본 화면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53" name="타원 52">
            <a:extLst>
              <a:ext uri="{FF2B5EF4-FFF2-40B4-BE49-F238E27FC236}">
                <a16:creationId xmlns:a16="http://schemas.microsoft.com/office/drawing/2014/main" id="{914B75D6-4C0A-4E53-28D2-AF0F90CC3A1B}"/>
              </a:ext>
            </a:extLst>
          </p:cNvPr>
          <p:cNvSpPr/>
          <p:nvPr/>
        </p:nvSpPr>
        <p:spPr>
          <a:xfrm>
            <a:off x="5258451" y="342900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BAC5616-29E7-075E-53D1-46743C0A5386}"/>
              </a:ext>
            </a:extLst>
          </p:cNvPr>
          <p:cNvSpPr/>
          <p:nvPr/>
        </p:nvSpPr>
        <p:spPr>
          <a:xfrm>
            <a:off x="958475" y="176248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DDD8FE-4934-4BB1-97AB-9427660B473B}"/>
              </a:ext>
            </a:extLst>
          </p:cNvPr>
          <p:cNvSpPr/>
          <p:nvPr/>
        </p:nvSpPr>
        <p:spPr>
          <a:xfrm>
            <a:off x="272779" y="1207698"/>
            <a:ext cx="8407802" cy="4628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60F50E-0A1F-42B0-B1D5-DEBCF38A6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97" y="1207695"/>
            <a:ext cx="8407802" cy="26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6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8CCA-4848-CF43-641D-33DE9542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8E7E9C3-A66B-4054-8599-551C5C9E8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97" y="1207697"/>
            <a:ext cx="8407802" cy="437468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736C8F4-B410-494F-467F-412E234A2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896695"/>
              </p:ext>
            </p:extLst>
          </p:nvPr>
        </p:nvGraphicFramePr>
        <p:xfrm>
          <a:off x="8899584" y="1207698"/>
          <a:ext cx="3019637" cy="2523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595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2424042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4765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dirty="0" err="1"/>
                        <a:t>No</a:t>
                      </a:r>
                      <a:r>
                        <a:rPr lang="ko-KR" altLang="en-US" sz="1200" b="1" dirty="0"/>
                        <a:t>.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Description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682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가나다순으로 서울시 구 정렬, </a:t>
                      </a:r>
                      <a:endParaRPr lang="ko-KR"/>
                    </a:p>
                    <a:p>
                      <a:pPr lvl="0" algn="ctr">
                        <a:buNone/>
                      </a:pPr>
                      <a:r>
                        <a:rPr lang="ko-KR" altLang="en-US" sz="1200"/>
                        <a:t>클릭 시 해당 지역의 치매 센터 위치가 지도에 표시됨.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4874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치매/복지 센터 선택 시 지도 </a:t>
                      </a:r>
                      <a:endParaRPr lang="ko-KR"/>
                    </a:p>
                    <a:p>
                      <a:pPr lvl="0" algn="ctr">
                        <a:buNone/>
                      </a:pPr>
                      <a:r>
                        <a:rPr lang="ko-KR" altLang="en-US" sz="1200"/>
                        <a:t>위에 센터 위치 마커 표시됨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877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마커 표시 위에 마우스 오버 시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센터 이름</a:t>
                      </a:r>
                      <a:r>
                        <a:rPr lang="en-US" altLang="ko-KR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주소 정보 제공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ko-KR" altLang="en-US" sz="12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센터 이름 클릭 시 해당 센터 사이트로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90A2FC7-197D-2062-29B8-B1CA68650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567233"/>
              </p:ext>
            </p:extLst>
          </p:nvPr>
        </p:nvGraphicFramePr>
        <p:xfrm>
          <a:off x="286397" y="262301"/>
          <a:ext cx="11609092" cy="7742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544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6565724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2475537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프로젝트명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AI Agent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와 </a:t>
                      </a:r>
                      <a:r>
                        <a:rPr lang="en-US" altLang="ko-KR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RAG</a:t>
                      </a:r>
                      <a:r>
                        <a:rPr lang="ko-KR" altLang="en-US" sz="12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를 활용한 노인 치매 위험 예측 서비스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화면 경로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치매 센터 안내 페이지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3871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/>
                        <a:t>선택한 지역의 치매 센터 위치 제공 페이지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페이지 #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49" name="타원 48">
            <a:extLst>
              <a:ext uri="{FF2B5EF4-FFF2-40B4-BE49-F238E27FC236}">
                <a16:creationId xmlns:a16="http://schemas.microsoft.com/office/drawing/2014/main" id="{3E3501F7-6930-0251-54B3-201CFB2FB0DC}"/>
              </a:ext>
            </a:extLst>
          </p:cNvPr>
          <p:cNvSpPr/>
          <p:nvPr/>
        </p:nvSpPr>
        <p:spPr>
          <a:xfrm>
            <a:off x="7463826" y="3068661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345A32-0E58-DBDB-582A-FC4511311899}"/>
              </a:ext>
            </a:extLst>
          </p:cNvPr>
          <p:cNvSpPr txBox="1"/>
          <p:nvPr/>
        </p:nvSpPr>
        <p:spPr>
          <a:xfrm>
            <a:off x="10835013" y="4321479"/>
            <a:ext cx="2400821" cy="1158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F387918-7DA1-4F36-95FC-09389A09A56B}"/>
              </a:ext>
            </a:extLst>
          </p:cNvPr>
          <p:cNvSpPr/>
          <p:nvPr/>
        </p:nvSpPr>
        <p:spPr>
          <a:xfrm>
            <a:off x="286397" y="1208033"/>
            <a:ext cx="8407802" cy="43686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897C69D-A47A-4BD1-8EDB-38775FEF4D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77" t="24438" r="23769" b="45060"/>
          <a:stretch/>
        </p:blipFill>
        <p:spPr>
          <a:xfrm>
            <a:off x="1233262" y="1361359"/>
            <a:ext cx="1476447" cy="378365"/>
          </a:xfrm>
          <a:prstGeom prst="rect">
            <a:avLst/>
          </a:prstGeom>
        </p:spPr>
      </p:pic>
      <p:sp>
        <p:nvSpPr>
          <p:cNvPr id="47" name="타원 46">
            <a:extLst>
              <a:ext uri="{FF2B5EF4-FFF2-40B4-BE49-F238E27FC236}">
                <a16:creationId xmlns:a16="http://schemas.microsoft.com/office/drawing/2014/main" id="{BF34A7A1-FED1-490E-9EB1-73D7FCA59671}"/>
              </a:ext>
            </a:extLst>
          </p:cNvPr>
          <p:cNvSpPr/>
          <p:nvPr/>
        </p:nvSpPr>
        <p:spPr>
          <a:xfrm>
            <a:off x="2484635" y="1601395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ea typeface="맑은 고딕"/>
              </a:rPr>
              <a:t>2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328F4DC-C5A9-4DBE-ADAD-157F51A6A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98" y="1207697"/>
            <a:ext cx="946864" cy="4368696"/>
          </a:xfrm>
          <a:prstGeom prst="rect">
            <a:avLst/>
          </a:prstGeom>
        </p:spPr>
      </p:pic>
      <p:sp>
        <p:nvSpPr>
          <p:cNvPr id="60" name="타원 59">
            <a:extLst>
              <a:ext uri="{FF2B5EF4-FFF2-40B4-BE49-F238E27FC236}">
                <a16:creationId xmlns:a16="http://schemas.microsoft.com/office/drawing/2014/main" id="{8FEE6CA0-BA13-AB33-E31E-5BDAFE27B9AF}"/>
              </a:ext>
            </a:extLst>
          </p:cNvPr>
          <p:cNvSpPr/>
          <p:nvPr/>
        </p:nvSpPr>
        <p:spPr>
          <a:xfrm>
            <a:off x="885805" y="1893050"/>
            <a:ext cx="450149" cy="429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ea typeface="맑은 고딕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91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669</Words>
  <Application>Microsoft Office PowerPoint</Application>
  <PresentationFormat>와이드스크린</PresentationFormat>
  <Paragraphs>195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502-30</cp:lastModifiedBy>
  <cp:revision>444</cp:revision>
  <dcterms:created xsi:type="dcterms:W3CDTF">2025-06-26T10:50:07Z</dcterms:created>
  <dcterms:modified xsi:type="dcterms:W3CDTF">2025-09-05T02:19:18Z</dcterms:modified>
</cp:coreProperties>
</file>