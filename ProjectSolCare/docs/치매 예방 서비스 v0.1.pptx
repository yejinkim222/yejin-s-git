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77" r:id="rId3"/>
    <p:sldId id="257" r:id="rId4"/>
    <p:sldId id="273" r:id="rId5"/>
    <p:sldId id="259" r:id="rId6"/>
    <p:sldId id="276" r:id="rId7"/>
    <p:sldId id="275" r:id="rId8"/>
    <p:sldId id="278" r:id="rId9"/>
    <p:sldId id="292" r:id="rId10"/>
    <p:sldId id="279" r:id="rId11"/>
    <p:sldId id="280" r:id="rId12"/>
    <p:sldId id="281" r:id="rId13"/>
    <p:sldId id="293" r:id="rId14"/>
    <p:sldId id="268" r:id="rId15"/>
    <p:sldId id="269" r:id="rId16"/>
    <p:sldId id="270" r:id="rId17"/>
    <p:sldId id="264" r:id="rId18"/>
    <p:sldId id="262" r:id="rId19"/>
    <p:sldId id="265" r:id="rId20"/>
    <p:sldId id="261" r:id="rId21"/>
    <p:sldId id="267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</p:sldIdLst>
  <p:sldSz cx="18288000" cy="10287000"/>
  <p:notesSz cx="6858000" cy="9144000"/>
  <p:embeddedFontLst>
    <p:embeddedFont>
      <p:font typeface="CookieRun Regular" panose="020B0600000101010101" charset="-127"/>
      <p:regular r:id="rId34"/>
    </p:embeddedFont>
    <p:embeddedFont>
      <p:font typeface="Kim jung chul Gothic Bold" panose="020B0600000101010101" charset="-127"/>
      <p:bold r:id="rId35"/>
    </p:embeddedFont>
    <p:embeddedFont>
      <p:font typeface="Kim jung chul Gothic Regular" panose="020B0600000101010101" charset="-127"/>
      <p:regular r:id="rId36"/>
    </p:embeddedFont>
    <p:embeddedFont>
      <p:font typeface="Pretendard Regular" panose="020B0600000101010101" charset="-127"/>
      <p:regular r:id="rId37"/>
    </p:embeddedFont>
    <p:embeddedFont>
      <p:font typeface="Calibri" panose="020F0502020204030204" pitchFamily="34" charset="0"/>
      <p:regular r:id="rId38"/>
      <p:bold r:id="rId39"/>
      <p:italic r:id="rId40"/>
      <p:boldItalic r:id="rId41"/>
    </p:embeddedFont>
    <p:embeddedFont>
      <p:font typeface="맑은 고딕" panose="020B0503020000020004" pitchFamily="50" charset="-127"/>
      <p:regular r:id="rId42"/>
      <p:bold r:id="rId43"/>
    </p:embeddedFont>
    <p:embeddedFont>
      <p:font typeface="맑은 고딕" panose="020B0503020000020004" pitchFamily="50" charset="-127"/>
      <p:regular r:id="rId42"/>
      <p:bold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7253"/>
    <a:srgbClr val="FF8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8761C8-D7DF-4ADA-A055-75933DDAA96E}" v="82" dt="2025-06-18T06:31:52.552"/>
    <p1510:client id="{39756438-DA5C-492F-9C04-CBBAC4DF47C5}" v="70" dt="2025-06-19T01:24:13.6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99" autoAdjust="0"/>
    <p:restoredTop sz="94622" autoAdjust="0"/>
  </p:normalViewPr>
  <p:slideViewPr>
    <p:cSldViewPr>
      <p:cViewPr varScale="1">
        <p:scale>
          <a:sx n="70" d="100"/>
          <a:sy n="70" d="100"/>
        </p:scale>
        <p:origin x="69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8EDA8B46AD02313/%EC%83%9D%EC%84%B1%ED%98%95AI_3%EC%A1%B0_%ED%99%94%EB%A9%B4%EC%84%A4%EA%B3%84%EC%84%9C_ColumnClustered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862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>
                    <a:lumMod val="65000"/>
                    <a:lumOff val="35000"/>
                  </a:sysClr>
                </a:solidFill>
                <a:effectLst/>
                <a:uLnTx/>
                <a:uFillTx/>
                <a:latin typeface="Aptos Narrow" panose="02110004020202020204"/>
                <a:ea typeface="맑은 고딕" panose="020B0503020000020004" pitchFamily="34" charset="-127"/>
              </a:rPr>
              <a:t>소득 수준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일반 노인</c:v>
                </c:pt>
              </c:strCache>
            </c:strRef>
          </c:tx>
          <c:spPr>
            <a:solidFill>
              <a:srgbClr val="4D93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강남구</c:v>
                </c:pt>
                <c:pt idx="1">
                  <c:v>서울시</c:v>
                </c:pt>
              </c:strCache>
            </c:strRef>
          </c:cat>
          <c:val>
            <c:numRef>
              <c:f>Sheet1!$B$2:$C$2</c:f>
              <c:numCache>
                <c:formatCode>0%</c:formatCode>
                <c:ptCount val="2"/>
                <c:pt idx="0">
                  <c:v>0.80532112716349591</c:v>
                </c:pt>
                <c:pt idx="1">
                  <c:v>0.68310165509948673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C6B9-4439-970D-7BDAC707D56B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저소득 노인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강남구</c:v>
                </c:pt>
                <c:pt idx="1">
                  <c:v>서울시</c:v>
                </c:pt>
              </c:strCache>
            </c:strRef>
          </c:cat>
          <c:val>
            <c:numRef>
              <c:f>Sheet1!$B$3:$C$3</c:f>
              <c:numCache>
                <c:formatCode>0%</c:formatCode>
                <c:ptCount val="2"/>
                <c:pt idx="0">
                  <c:v>2.0168788442282936E-2</c:v>
                </c:pt>
                <c:pt idx="1">
                  <c:v>2.8499657557930713E-2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C6B9-4439-970D-7BDAC707D56B}"/>
            </c:ext>
          </c:extLst>
        </c:ser>
        <c:ser>
          <c:idx val="2"/>
          <c:order val="2"/>
          <c:tx>
            <c:strRef>
              <c:f>Sheet1!$A$4</c:f>
              <c:strCache>
                <c:ptCount val="1"/>
                <c:pt idx="0">
                  <c:v>기초생활수급자</c:v>
                </c:pt>
              </c:strCache>
            </c:strRef>
          </c:tx>
          <c:spPr>
            <a:solidFill>
              <a:srgbClr val="E8733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Sheet1!$B$1:$C$1</c:f>
              <c:strCache>
                <c:ptCount val="2"/>
                <c:pt idx="0">
                  <c:v>강남구</c:v>
                </c:pt>
                <c:pt idx="1">
                  <c:v>서울시</c:v>
                </c:pt>
              </c:strCache>
            </c:strRef>
          </c:cat>
          <c:val>
            <c:numRef>
              <c:f>Sheet1!$B$4:$C$4</c:f>
              <c:numCache>
                <c:formatCode>0%</c:formatCode>
                <c:ptCount val="2"/>
                <c:pt idx="0">
                  <c:v>0.17451008439422114</c:v>
                </c:pt>
                <c:pt idx="1">
                  <c:v>0.28839868734258262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9-C6B9-4439-970D-7BDAC707D56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821552136"/>
        <c:axId val="821554184"/>
      </c:barChart>
      <c:catAx>
        <c:axId val="821552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21554184"/>
        <c:crosses val="autoZero"/>
        <c:auto val="1"/>
        <c:lblAlgn val="ctr"/>
        <c:lblOffset val="100"/>
        <c:noMultiLvlLbl val="0"/>
      </c:catAx>
      <c:valAx>
        <c:axId val="821554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21552136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E5B1C7-AA5C-46DC-8978-875F2C351BC6}" type="datetimeFigureOut">
              <a:rPr lang="ko-KR" altLang="en-US" smtClean="0"/>
              <a:t>2025-08-29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53BE6-529D-4E4A-BB3C-B6ED6C23EE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107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53BE6-529D-4E4A-BB3C-B6ED6C23EE8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1922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53BE6-529D-4E4A-BB3C-B6ED6C23EE8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8419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1" name="Google Shape;14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671eb5cf56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7" name="Google Shape;127;g3671eb5cf5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01DC13EA-E494-36A5-0428-DB08A16518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F0F61164-AAD5-36F1-64D4-D46CEF5E5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BA130AF-E09D-FE48-9493-DAF6258B04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80939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04528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6724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69759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0479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37375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74334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89745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915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4176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4187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51352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7813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00714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76716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265913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>
          <a:extLst>
            <a:ext uri="{FF2B5EF4-FFF2-40B4-BE49-F238E27FC236}">
              <a16:creationId xmlns:a16="http://schemas.microsoft.com/office/drawing/2014/main" id="{5BCB7B70-BD58-FD8D-8C9B-AB2AFCEF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>
            <a:extLst>
              <a:ext uri="{FF2B5EF4-FFF2-40B4-BE49-F238E27FC236}">
                <a16:creationId xmlns:a16="http://schemas.microsoft.com/office/drawing/2014/main" id="{3B01B732-FB72-BC0F-D308-7CF71D0F74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>
            <a:extLst>
              <a:ext uri="{FF2B5EF4-FFF2-40B4-BE49-F238E27FC236}">
                <a16:creationId xmlns:a16="http://schemas.microsoft.com/office/drawing/2014/main" id="{3748ECB9-979D-774B-065B-963D2EEE64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11121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890500" y="8341846"/>
            <a:ext cx="1117600" cy="63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3716000" y="8633946"/>
            <a:ext cx="33401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>
                <a:solidFill>
                  <a:srgbClr val="585755"/>
                </a:solidFill>
                <a:latin typeface="Kim jung chul Gothic Bold"/>
                <a:ea typeface="Kim jung chul Gothic Bold"/>
              </a:rPr>
              <a:t>팀원</a:t>
            </a:r>
            <a:r>
              <a:rPr lang="en-US" sz="2000" b="0" i="0" u="none" strike="noStrike">
                <a:solidFill>
                  <a:srgbClr val="585755"/>
                </a:solidFill>
                <a:latin typeface="Kim jung chul Gothic Bold"/>
              </a:rPr>
              <a:t> : </a:t>
            </a:r>
            <a:r>
              <a:rPr lang="ko-KR" altLang="en-US" sz="2000">
                <a:solidFill>
                  <a:srgbClr val="585755"/>
                </a:solidFill>
                <a:latin typeface="Kim jung chul Gothic Regular"/>
              </a:rPr>
              <a:t>김예진</a:t>
            </a:r>
            <a:r>
              <a:rPr lang="en-US" altLang="ko-KR" sz="2000">
                <a:solidFill>
                  <a:srgbClr val="585755"/>
                </a:solidFill>
                <a:latin typeface="Kim jung chul Gothic Regular"/>
              </a:rPr>
              <a:t>, </a:t>
            </a:r>
            <a:r>
              <a:rPr lang="ko-KR" altLang="en-US" sz="2000">
                <a:solidFill>
                  <a:srgbClr val="585755"/>
                </a:solidFill>
                <a:latin typeface="Kim jung chul Gothic Regular"/>
              </a:rPr>
              <a:t>홍세나</a:t>
            </a:r>
            <a:endParaRPr lang="en-US" sz="2000" b="0" i="0" u="none" strike="noStrike">
              <a:solidFill>
                <a:srgbClr val="585755"/>
              </a:solidFill>
              <a:latin typeface="Kim jung chul Gothic Regular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3716000" y="8214846"/>
            <a:ext cx="3352800" cy="355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>
                <a:solidFill>
                  <a:srgbClr val="585755"/>
                </a:solidFill>
                <a:latin typeface="Kim jung chul Gothic Bold"/>
                <a:ea typeface="Kim jung chul Gothic Bold"/>
              </a:rPr>
              <a:t>조장</a:t>
            </a:r>
            <a:r>
              <a:rPr lang="en-US" sz="2000" b="0" i="0" u="none" strike="noStrike">
                <a:solidFill>
                  <a:srgbClr val="585755"/>
                </a:solidFill>
                <a:latin typeface="Kim jung chul Gothic Bold"/>
              </a:rPr>
              <a:t> : </a:t>
            </a:r>
            <a:r>
              <a:rPr lang="ko-KR" altLang="en-US" sz="2000">
                <a:solidFill>
                  <a:srgbClr val="585755"/>
                </a:solidFill>
                <a:latin typeface="Kim jung chul Gothic Bold"/>
                <a:ea typeface="Kim jung chul Gothic Regular"/>
              </a:rPr>
              <a:t>김윤지</a:t>
            </a:r>
            <a:endParaRPr lang="en-US" sz="2000" b="0" i="0" u="none" strike="noStrike">
              <a:solidFill>
                <a:srgbClr val="585755"/>
              </a:solidFill>
              <a:latin typeface="Kim jung chul Gothic Regular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716000" y="7783046"/>
            <a:ext cx="3365500" cy="368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585755"/>
                </a:solidFill>
                <a:ea typeface="Kim jung chul Gothic Bold"/>
              </a:rPr>
              <a:t>작성</a:t>
            </a:r>
            <a:r>
              <a:rPr lang="ko-KR" sz="2000" b="0" i="0" u="none" strike="noStrike" dirty="0">
                <a:solidFill>
                  <a:srgbClr val="585755"/>
                </a:solidFill>
                <a:ea typeface="Kim jung chul Gothic Bold"/>
              </a:rPr>
              <a:t>일</a:t>
            </a:r>
            <a:r>
              <a:rPr lang="en-US" sz="2000" b="0" i="0" u="none" strike="noStrike" dirty="0">
                <a:solidFill>
                  <a:srgbClr val="585755"/>
                </a:solidFill>
                <a:latin typeface="Kim jung chul Gothic Bold"/>
              </a:rPr>
              <a:t> : </a:t>
            </a:r>
            <a:r>
              <a:rPr lang="en-US" sz="2000" dirty="0">
                <a:solidFill>
                  <a:srgbClr val="585755"/>
                </a:solidFill>
                <a:latin typeface="Kim jung chul Gothic Bold"/>
                <a:ea typeface="Pretendard Regular"/>
              </a:rPr>
              <a:t>2025.08.28</a:t>
            </a:r>
            <a:endParaRPr lang="en-US" sz="2000" b="0" i="0" u="none" strike="noStrike" dirty="0">
              <a:solidFill>
                <a:srgbClr val="585755"/>
              </a:solidFill>
              <a:latin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24000" y="3907398"/>
            <a:ext cx="15240000" cy="2133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12000" b="0" i="0" u="none" strike="noStrike" dirty="0">
                <a:solidFill>
                  <a:srgbClr val="E37253"/>
                </a:solidFill>
                <a:ea typeface="Kim jung chul Gothic Bold"/>
              </a:rPr>
              <a:t>AI </a:t>
            </a:r>
            <a:r>
              <a:rPr lang="ko-KR" altLang="en-US" sz="12000" b="0" i="0" u="none" strike="noStrike" dirty="0">
                <a:solidFill>
                  <a:srgbClr val="E37253"/>
                </a:solidFill>
                <a:ea typeface="Kim jung chul Gothic Bold"/>
              </a:rPr>
              <a:t>융합 치매 예방 서비스</a:t>
            </a:r>
            <a:endParaRPr lang="ko-KR" sz="12000" b="0" i="0" u="none" strike="noStrike" dirty="0">
              <a:solidFill>
                <a:srgbClr val="E37253"/>
              </a:solidFill>
              <a:ea typeface="Kim jung chul Gothic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810000" y="2705100"/>
            <a:ext cx="10668000" cy="1562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99600"/>
              </a:lnSpc>
            </a:pPr>
            <a:r>
              <a:rPr lang="ko-KR" altLang="en-US" sz="5500" dirty="0">
                <a:solidFill>
                  <a:schemeClr val="bg1">
                    <a:lumMod val="50000"/>
                  </a:schemeClr>
                </a:solidFill>
                <a:ea typeface="Kim jung chul Gothic Bold"/>
              </a:rPr>
              <a:t>개인의 인지 상태 및 기저 질환에 따른</a:t>
            </a:r>
            <a:endParaRPr lang="ko-KR" sz="5500" b="0" i="0" u="none" strike="noStrike" dirty="0">
              <a:solidFill>
                <a:schemeClr val="bg1">
                  <a:lumMod val="50000"/>
                </a:schemeClr>
              </a:solidFill>
              <a:ea typeface="Kim jung chul Gothic 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F894B-6643-4DA7-A299-31B61DC0AA6C}"/>
              </a:ext>
            </a:extLst>
          </p:cNvPr>
          <p:cNvSpPr txBox="1"/>
          <p:nvPr/>
        </p:nvSpPr>
        <p:spPr>
          <a:xfrm>
            <a:off x="15849600" y="5434645"/>
            <a:ext cx="10668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500" b="1" dirty="0">
                <a:solidFill>
                  <a:schemeClr val="bg1">
                    <a:lumMod val="50000"/>
                  </a:schemeClr>
                </a:solidFill>
              </a:rPr>
              <a:t>v0.1</a:t>
            </a:r>
            <a:endParaRPr lang="ko-KR" altLang="en-US" sz="25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2800" y="-431800"/>
            <a:ext cx="5651500" cy="1112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381000" y="1320800"/>
            <a:ext cx="1117600" cy="762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8105464" y="4624118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dirty="0">
                <a:solidFill>
                  <a:srgbClr val="222222"/>
                </a:solidFill>
                <a:ea typeface="Kim jung chul Gothic Bold"/>
              </a:rPr>
              <a:t>사용 기술 목록</a:t>
            </a:r>
            <a:r>
              <a:rPr lang="en-US" altLang="ko-KR" sz="2500" dirty="0">
                <a:solidFill>
                  <a:srgbClr val="222222"/>
                </a:solidFill>
                <a:ea typeface="Kim jung chul Gothic Bold"/>
              </a:rPr>
              <a:t>/</a:t>
            </a:r>
            <a:r>
              <a:rPr lang="ko-KR" altLang="en-US" sz="2500" dirty="0">
                <a:solidFill>
                  <a:srgbClr val="222222"/>
                </a:solidFill>
                <a:ea typeface="Kim jung chul Gothic Bold"/>
              </a:rPr>
              <a:t>경험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705600" y="4014518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05464" y="2235200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dirty="0">
                <a:solidFill>
                  <a:srgbClr val="222222"/>
                </a:solidFill>
                <a:ea typeface="Kim jung chul Gothic Bold"/>
              </a:rPr>
              <a:t>프로젝트 기획서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705600" y="1638300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28750" y="825500"/>
            <a:ext cx="2146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585755"/>
                </a:solidFill>
                <a:ea typeface="Kim jung chul Gothic Bold"/>
              </a:rPr>
              <a:t>목차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3C54956E-C3E3-4CB8-8778-BEF609CE22CC}"/>
              </a:ext>
            </a:extLst>
          </p:cNvPr>
          <p:cNvSpPr txBox="1"/>
          <p:nvPr/>
        </p:nvSpPr>
        <p:spPr>
          <a:xfrm>
            <a:off x="8105464" y="6819329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개발 스케줄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61C0D6E4-67DD-42A7-9292-6FDED119F099}"/>
              </a:ext>
            </a:extLst>
          </p:cNvPr>
          <p:cNvSpPr txBox="1"/>
          <p:nvPr/>
        </p:nvSpPr>
        <p:spPr>
          <a:xfrm>
            <a:off x="6705600" y="6222429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03</a:t>
            </a:r>
          </a:p>
        </p:txBody>
      </p:sp>
      <p:sp>
        <p:nvSpPr>
          <p:cNvPr id="64" name="TextBox 16">
            <a:extLst>
              <a:ext uri="{FF2B5EF4-FFF2-40B4-BE49-F238E27FC236}">
                <a16:creationId xmlns:a16="http://schemas.microsoft.com/office/drawing/2014/main" id="{BE642E51-5361-44A3-9D84-080041A9159B}"/>
              </a:ext>
            </a:extLst>
          </p:cNvPr>
          <p:cNvSpPr txBox="1"/>
          <p:nvPr/>
        </p:nvSpPr>
        <p:spPr>
          <a:xfrm>
            <a:off x="13134664" y="2280968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250" dirty="0">
                <a:solidFill>
                  <a:srgbClr val="222222"/>
                </a:solidFill>
                <a:ea typeface="Kim jung chul Gothic Bold"/>
              </a:rPr>
              <a:t>요구사항 분석서</a:t>
            </a:r>
            <a:r>
              <a:rPr lang="en-US" altLang="ko-KR" sz="2250" dirty="0">
                <a:solidFill>
                  <a:srgbClr val="222222"/>
                </a:solidFill>
                <a:ea typeface="Kim jung chul Gothic Bold"/>
              </a:rPr>
              <a:t>/</a:t>
            </a:r>
            <a:r>
              <a:rPr lang="ko-KR" altLang="en-US" sz="2250" dirty="0">
                <a:solidFill>
                  <a:srgbClr val="222222"/>
                </a:solidFill>
                <a:ea typeface="Kim jung chul Gothic Bold"/>
              </a:rPr>
              <a:t>명세서</a:t>
            </a:r>
            <a:endParaRPr lang="ko-KR" sz="225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FEAA24E6-DB96-4C83-894E-AD133C991560}"/>
              </a:ext>
            </a:extLst>
          </p:cNvPr>
          <p:cNvSpPr txBox="1"/>
          <p:nvPr/>
        </p:nvSpPr>
        <p:spPr>
          <a:xfrm>
            <a:off x="11734800" y="1671368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04</a:t>
            </a:r>
          </a:p>
        </p:txBody>
      </p:sp>
      <p:sp>
        <p:nvSpPr>
          <p:cNvPr id="70" name="TextBox 18">
            <a:extLst>
              <a:ext uri="{FF2B5EF4-FFF2-40B4-BE49-F238E27FC236}">
                <a16:creationId xmlns:a16="http://schemas.microsoft.com/office/drawing/2014/main" id="{0811DAC8-F634-42B0-B60F-BEF26E74B80E}"/>
              </a:ext>
            </a:extLst>
          </p:cNvPr>
          <p:cNvSpPr txBox="1"/>
          <p:nvPr/>
        </p:nvSpPr>
        <p:spPr>
          <a:xfrm>
            <a:off x="13134664" y="4476179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화면 설계서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71" name="TextBox 19">
            <a:extLst>
              <a:ext uri="{FF2B5EF4-FFF2-40B4-BE49-F238E27FC236}">
                <a16:creationId xmlns:a16="http://schemas.microsoft.com/office/drawing/2014/main" id="{78D235F3-2CB1-41F5-AC99-758FAEB62748}"/>
              </a:ext>
            </a:extLst>
          </p:cNvPr>
          <p:cNvSpPr txBox="1"/>
          <p:nvPr/>
        </p:nvSpPr>
        <p:spPr>
          <a:xfrm>
            <a:off x="11734800" y="3879279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05</a:t>
            </a:r>
          </a:p>
        </p:txBody>
      </p:sp>
      <p:sp>
        <p:nvSpPr>
          <p:cNvPr id="29" name="TextBox 17">
            <a:extLst>
              <a:ext uri="{FF2B5EF4-FFF2-40B4-BE49-F238E27FC236}">
                <a16:creationId xmlns:a16="http://schemas.microsoft.com/office/drawing/2014/main" id="{84B4A71C-C32A-4FBD-845F-BF6281965798}"/>
              </a:ext>
            </a:extLst>
          </p:cNvPr>
          <p:cNvSpPr txBox="1"/>
          <p:nvPr/>
        </p:nvSpPr>
        <p:spPr>
          <a:xfrm>
            <a:off x="11734800" y="6050233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06</a:t>
            </a:r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D4B60090-DDFA-49A4-B826-B5A13B3F53AA}"/>
              </a:ext>
            </a:extLst>
          </p:cNvPr>
          <p:cNvSpPr txBox="1"/>
          <p:nvPr/>
        </p:nvSpPr>
        <p:spPr>
          <a:xfrm>
            <a:off x="13134664" y="6659833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UML(</a:t>
            </a:r>
            <a:r>
              <a:rPr lang="en-US" altLang="ko-KR" sz="2500" dirty="0" err="1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Usecase</a:t>
            </a:r>
            <a: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/</a:t>
            </a:r>
            <a:b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</a:br>
            <a: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Sequence/Class)</a:t>
            </a:r>
            <a:endParaRPr lang="ko-KR" sz="2500" b="0" i="0" u="none" strike="noStrike" dirty="0">
              <a:solidFill>
                <a:srgbClr val="222222"/>
              </a:solidFill>
              <a:latin typeface="Kim jung chul Gothic Bold" panose="020B0600000101010101" charset="-127"/>
              <a:ea typeface="Kim jung chul Gothic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8669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12800" y="-431800"/>
            <a:ext cx="5651500" cy="1112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5400000">
            <a:off x="381000" y="1320800"/>
            <a:ext cx="1117600" cy="762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428750" y="825500"/>
            <a:ext cx="2146300" cy="1066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585755"/>
                </a:solidFill>
                <a:ea typeface="Kim jung chul Gothic Bold"/>
              </a:rPr>
              <a:t>목차</a:t>
            </a:r>
          </a:p>
        </p:txBody>
      </p:sp>
      <p:sp>
        <p:nvSpPr>
          <p:cNvPr id="73" name="TextBox 18">
            <a:extLst>
              <a:ext uri="{FF2B5EF4-FFF2-40B4-BE49-F238E27FC236}">
                <a16:creationId xmlns:a16="http://schemas.microsoft.com/office/drawing/2014/main" id="{952983CA-EBC6-4E10-AC1B-1E60C378A248}"/>
              </a:ext>
            </a:extLst>
          </p:cNvPr>
          <p:cNvSpPr txBox="1"/>
          <p:nvPr/>
        </p:nvSpPr>
        <p:spPr>
          <a:xfrm>
            <a:off x="7991164" y="2082053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en-US" altLang="ko-KR" sz="2500" b="0" i="0" u="none" strike="noStrike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ER Diagram</a:t>
            </a:r>
            <a:endParaRPr lang="ko-KR" sz="2500" b="0" i="0" u="none" strike="noStrike" dirty="0">
              <a:solidFill>
                <a:srgbClr val="222222"/>
              </a:solidFill>
              <a:latin typeface="Kim jung chul Gothic Bold" panose="020B0600000101010101" charset="-127"/>
              <a:ea typeface="Kim jung chul Gothic Bold" panose="020B0600000101010101" charset="-127"/>
            </a:endParaRPr>
          </a:p>
        </p:txBody>
      </p:sp>
      <p:sp>
        <p:nvSpPr>
          <p:cNvPr id="74" name="TextBox 19">
            <a:extLst>
              <a:ext uri="{FF2B5EF4-FFF2-40B4-BE49-F238E27FC236}">
                <a16:creationId xmlns:a16="http://schemas.microsoft.com/office/drawing/2014/main" id="{B0F43BE9-6DF3-41D0-AE00-136F65A7AAFB}"/>
              </a:ext>
            </a:extLst>
          </p:cNvPr>
          <p:cNvSpPr txBox="1"/>
          <p:nvPr/>
        </p:nvSpPr>
        <p:spPr>
          <a:xfrm>
            <a:off x="6591300" y="1485153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07</a:t>
            </a:r>
          </a:p>
        </p:txBody>
      </p:sp>
      <p:sp>
        <p:nvSpPr>
          <p:cNvPr id="76" name="TextBox 16">
            <a:extLst>
              <a:ext uri="{FF2B5EF4-FFF2-40B4-BE49-F238E27FC236}">
                <a16:creationId xmlns:a16="http://schemas.microsoft.com/office/drawing/2014/main" id="{02D100EC-40C0-4CF6-B301-B363E1C2199F}"/>
              </a:ext>
            </a:extLst>
          </p:cNvPr>
          <p:cNvSpPr txBox="1"/>
          <p:nvPr/>
        </p:nvSpPr>
        <p:spPr>
          <a:xfrm>
            <a:off x="8065966" y="4293171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 err="1">
                <a:solidFill>
                  <a:srgbClr val="222222"/>
                </a:solidFill>
                <a:ea typeface="Kim jung chul Gothic Bold"/>
              </a:rPr>
              <a:t>머신러닝</a:t>
            </a: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 결과서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77" name="TextBox 17">
            <a:extLst>
              <a:ext uri="{FF2B5EF4-FFF2-40B4-BE49-F238E27FC236}">
                <a16:creationId xmlns:a16="http://schemas.microsoft.com/office/drawing/2014/main" id="{8BD735DF-EC8E-4785-B217-619C7E08AEDD}"/>
              </a:ext>
            </a:extLst>
          </p:cNvPr>
          <p:cNvSpPr txBox="1"/>
          <p:nvPr/>
        </p:nvSpPr>
        <p:spPr>
          <a:xfrm>
            <a:off x="6666102" y="3683571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08</a:t>
            </a:r>
          </a:p>
        </p:txBody>
      </p:sp>
      <p:sp>
        <p:nvSpPr>
          <p:cNvPr id="79" name="TextBox 16">
            <a:extLst>
              <a:ext uri="{FF2B5EF4-FFF2-40B4-BE49-F238E27FC236}">
                <a16:creationId xmlns:a16="http://schemas.microsoft.com/office/drawing/2014/main" id="{B701109C-F28C-44D5-A281-CEC4EBDF40D3}"/>
              </a:ext>
            </a:extLst>
          </p:cNvPr>
          <p:cNvSpPr txBox="1"/>
          <p:nvPr/>
        </p:nvSpPr>
        <p:spPr>
          <a:xfrm>
            <a:off x="13679131" y="2136567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82600"/>
              </a:lnSpc>
            </a:pPr>
            <a:r>
              <a:rPr lang="en-US" altLang="ko-KR" sz="2500" dirty="0">
                <a:solidFill>
                  <a:srgbClr val="222222"/>
                </a:solidFill>
                <a:latin typeface="Kim jung chul Gothic Bold" panose="020B0600000101010101" charset="-127"/>
                <a:ea typeface="Kim jung chul Gothic Bold" panose="020B0600000101010101" charset="-127"/>
              </a:rPr>
              <a:t>Software Architecture</a:t>
            </a:r>
            <a:endParaRPr lang="ko-KR" altLang="ko-KR" sz="2500" dirty="0">
              <a:solidFill>
                <a:srgbClr val="222222"/>
              </a:solidFill>
              <a:latin typeface="Kim jung chul Gothic Bold" panose="020B0600000101010101" charset="-127"/>
              <a:ea typeface="Kim jung chul Gothic Bold" panose="020B0600000101010101" charset="-127"/>
            </a:endParaRPr>
          </a:p>
        </p:txBody>
      </p:sp>
      <p:sp>
        <p:nvSpPr>
          <p:cNvPr id="80" name="TextBox 17">
            <a:extLst>
              <a:ext uri="{FF2B5EF4-FFF2-40B4-BE49-F238E27FC236}">
                <a16:creationId xmlns:a16="http://schemas.microsoft.com/office/drawing/2014/main" id="{7DD1A96A-AA18-4E52-B04C-21137196049F}"/>
              </a:ext>
            </a:extLst>
          </p:cNvPr>
          <p:cNvSpPr txBox="1"/>
          <p:nvPr/>
        </p:nvSpPr>
        <p:spPr>
          <a:xfrm>
            <a:off x="12279267" y="1526967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10</a:t>
            </a:r>
          </a:p>
        </p:txBody>
      </p:sp>
      <p:sp>
        <p:nvSpPr>
          <p:cNvPr id="82" name="TextBox 18">
            <a:extLst>
              <a:ext uri="{FF2B5EF4-FFF2-40B4-BE49-F238E27FC236}">
                <a16:creationId xmlns:a16="http://schemas.microsoft.com/office/drawing/2014/main" id="{0F0F4757-5FBF-42BF-8A62-756996D7F98F}"/>
              </a:ext>
            </a:extLst>
          </p:cNvPr>
          <p:cNvSpPr txBox="1"/>
          <p:nvPr/>
        </p:nvSpPr>
        <p:spPr>
          <a:xfrm>
            <a:off x="8220993" y="6807200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주요 서비스 기능 및</a:t>
            </a:r>
            <a:br>
              <a:rPr lang="en-US" altLang="ko-KR" sz="2500" b="0" i="0" u="none" strike="noStrike" dirty="0">
                <a:solidFill>
                  <a:srgbClr val="222222"/>
                </a:solidFill>
                <a:ea typeface="Kim jung chul Gothic Bold"/>
              </a:rPr>
            </a:b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소스 코드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83" name="TextBox 19">
            <a:extLst>
              <a:ext uri="{FF2B5EF4-FFF2-40B4-BE49-F238E27FC236}">
                <a16:creationId xmlns:a16="http://schemas.microsoft.com/office/drawing/2014/main" id="{3CBBA33F-3235-4A6C-AF20-BAB59B5A52AA}"/>
              </a:ext>
            </a:extLst>
          </p:cNvPr>
          <p:cNvSpPr txBox="1"/>
          <p:nvPr/>
        </p:nvSpPr>
        <p:spPr>
          <a:xfrm>
            <a:off x="6821129" y="6210300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09</a:t>
            </a:r>
          </a:p>
        </p:txBody>
      </p:sp>
      <p:sp>
        <p:nvSpPr>
          <p:cNvPr id="85" name="TextBox 18">
            <a:extLst>
              <a:ext uri="{FF2B5EF4-FFF2-40B4-BE49-F238E27FC236}">
                <a16:creationId xmlns:a16="http://schemas.microsoft.com/office/drawing/2014/main" id="{62A6C0A6-912E-4CC4-97EC-934D7617D104}"/>
              </a:ext>
            </a:extLst>
          </p:cNvPr>
          <p:cNvSpPr txBox="1"/>
          <p:nvPr/>
        </p:nvSpPr>
        <p:spPr>
          <a:xfrm>
            <a:off x="13698807" y="4322285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b="0" i="0" u="none" strike="noStrike" dirty="0">
                <a:solidFill>
                  <a:srgbClr val="222222"/>
                </a:solidFill>
                <a:ea typeface="Kim jung chul Gothic Bold"/>
              </a:rPr>
              <a:t>시연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86" name="TextBox 19">
            <a:extLst>
              <a:ext uri="{FF2B5EF4-FFF2-40B4-BE49-F238E27FC236}">
                <a16:creationId xmlns:a16="http://schemas.microsoft.com/office/drawing/2014/main" id="{F23FE1E0-D66D-4B9E-A140-1D6CDF0BA363}"/>
              </a:ext>
            </a:extLst>
          </p:cNvPr>
          <p:cNvSpPr txBox="1"/>
          <p:nvPr/>
        </p:nvSpPr>
        <p:spPr>
          <a:xfrm>
            <a:off x="12298943" y="3725385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11</a:t>
            </a:r>
          </a:p>
        </p:txBody>
      </p:sp>
      <p:sp>
        <p:nvSpPr>
          <p:cNvPr id="88" name="TextBox 16">
            <a:extLst>
              <a:ext uri="{FF2B5EF4-FFF2-40B4-BE49-F238E27FC236}">
                <a16:creationId xmlns:a16="http://schemas.microsoft.com/office/drawing/2014/main" id="{6AAEB2E5-0563-4FC9-81E2-740748E31932}"/>
              </a:ext>
            </a:extLst>
          </p:cNvPr>
          <p:cNvSpPr txBox="1"/>
          <p:nvPr/>
        </p:nvSpPr>
        <p:spPr>
          <a:xfrm>
            <a:off x="13649584" y="6533403"/>
            <a:ext cx="2799727" cy="533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82600"/>
              </a:lnSpc>
            </a:pPr>
            <a:r>
              <a:rPr lang="ko-KR" altLang="en-US" sz="2500" dirty="0">
                <a:solidFill>
                  <a:srgbClr val="222222"/>
                </a:solidFill>
                <a:ea typeface="Kim jung chul Gothic Bold"/>
              </a:rPr>
              <a:t>향후 개발 계획</a:t>
            </a:r>
            <a:endParaRPr lang="ko-KR" sz="2500" b="0" i="0" u="none" strike="noStrike" dirty="0">
              <a:solidFill>
                <a:srgbClr val="222222"/>
              </a:solidFill>
              <a:ea typeface="Kim jung chul Gothic Bold"/>
            </a:endParaRPr>
          </a:p>
        </p:txBody>
      </p:sp>
      <p:sp>
        <p:nvSpPr>
          <p:cNvPr id="89" name="TextBox 17">
            <a:extLst>
              <a:ext uri="{FF2B5EF4-FFF2-40B4-BE49-F238E27FC236}">
                <a16:creationId xmlns:a16="http://schemas.microsoft.com/office/drawing/2014/main" id="{14EEF0FC-B8B2-49C7-9CFD-188B314ED5D5}"/>
              </a:ext>
            </a:extLst>
          </p:cNvPr>
          <p:cNvSpPr txBox="1"/>
          <p:nvPr/>
        </p:nvSpPr>
        <p:spPr>
          <a:xfrm>
            <a:off x="12249720" y="5923803"/>
            <a:ext cx="1170035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82600"/>
              </a:lnSpc>
            </a:pPr>
            <a:r>
              <a:rPr lang="en-US" sz="7000" b="0" i="0" u="none" strike="noStrike" dirty="0">
                <a:solidFill>
                  <a:srgbClr val="FF8C6C"/>
                </a:solidFill>
                <a:latin typeface="Kim jung chul Gothic Regular"/>
              </a:rPr>
              <a:t>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title="imag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0200" y="4076700"/>
            <a:ext cx="5732900" cy="556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/>
          <p:cNvPicPr preferRelativeResize="0"/>
          <p:nvPr/>
        </p:nvPicPr>
        <p:blipFill rotWithShape="1">
          <a:blip r:embed="rId5">
            <a:alphaModFix/>
          </a:blip>
          <a:srcRect b="43518"/>
          <a:stretch/>
        </p:blipFill>
        <p:spPr>
          <a:xfrm>
            <a:off x="1961724" y="2042176"/>
            <a:ext cx="5568382" cy="1697441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9883897" y="7993736"/>
            <a:ext cx="4402200" cy="13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“</a:t>
            </a:r>
            <a:r>
              <a:rPr lang="ko-KR" sz="36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경도인지장애 </a:t>
            </a:r>
            <a:r>
              <a:rPr lang="ko-KR" sz="36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시기에</a:t>
            </a:r>
            <a:endParaRPr sz="3600" b="1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6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예방</a:t>
            </a:r>
            <a:r>
              <a:rPr lang="ko-KR" sz="36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ko-KR" sz="36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필요</a:t>
            </a:r>
            <a:r>
              <a:rPr lang="ko-KR" sz="36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”</a:t>
            </a:r>
            <a:endParaRPr sz="3600" b="1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2" name="TextBox 25">
            <a:extLst>
              <a:ext uri="{FF2B5EF4-FFF2-40B4-BE49-F238E27FC236}">
                <a16:creationId xmlns:a16="http://schemas.microsoft.com/office/drawing/2014/main" id="{806F44C6-2F3D-56BA-2E94-35FFC7EFE355}"/>
              </a:ext>
            </a:extLst>
          </p:cNvPr>
          <p:cNvSpPr txBox="1"/>
          <p:nvPr/>
        </p:nvSpPr>
        <p:spPr>
          <a:xfrm>
            <a:off x="1238250" y="774700"/>
            <a:ext cx="1240155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>
              <a:lnSpc>
                <a:spcPct val="99600"/>
              </a:lnSpc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기획서 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- </a:t>
            </a:r>
            <a:r>
              <a:rPr lang="ko-KR" altLang="en-US" sz="4800" b="0" i="0" u="none" strike="noStrike" dirty="0">
                <a:solidFill>
                  <a:srgbClr val="585755"/>
                </a:solidFill>
                <a:ea typeface="Kim jung chul Gothic Bold"/>
              </a:rPr>
              <a:t>기획 의도</a:t>
            </a:r>
            <a:r>
              <a:rPr lang="en-US" altLang="ko-KR" sz="4800" b="0" i="0" u="none" strike="noStrike" dirty="0">
                <a:solidFill>
                  <a:srgbClr val="585755"/>
                </a:solidFill>
                <a:ea typeface="Kim jung chul Gothic Bold"/>
              </a:rPr>
              <a:t>(1): </a:t>
            </a:r>
            <a:r>
              <a:rPr lang="ko-KR" altLang="en-US" sz="3600" dirty="0"/>
              <a:t>신문</a:t>
            </a:r>
            <a:r>
              <a:rPr lang="en-US" altLang="ko-KR" sz="3600" dirty="0"/>
              <a:t>, </a:t>
            </a:r>
            <a:r>
              <a:rPr lang="ko-KR" altLang="en-US" sz="3600" dirty="0"/>
              <a:t>이미지</a:t>
            </a:r>
            <a:r>
              <a:rPr lang="en-US" altLang="ko-KR" sz="3600" dirty="0"/>
              <a:t>, </a:t>
            </a:r>
            <a:r>
              <a:rPr lang="ko-KR" altLang="en-US" sz="3600" dirty="0"/>
              <a:t>핵심 표시해서 어떻게 하려고 했는지 보여 주기</a:t>
            </a:r>
          </a:p>
        </p:txBody>
      </p:sp>
      <p:sp>
        <p:nvSpPr>
          <p:cNvPr id="7" name="Google Shape;147;p17"/>
          <p:cNvSpPr txBox="1"/>
          <p:nvPr/>
        </p:nvSpPr>
        <p:spPr>
          <a:xfrm>
            <a:off x="8458200" y="2042176"/>
            <a:ext cx="7253595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정상인</a:t>
            </a:r>
            <a:r>
              <a:rPr lang="ko-KR"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은 매년 </a:t>
            </a:r>
            <a:r>
              <a:rPr lang="ko-KR" sz="28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1-2%</a:t>
            </a:r>
            <a:r>
              <a:rPr lang="ko-KR"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</a:t>
            </a:r>
            <a:endParaRPr sz="280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경도인지장애</a:t>
            </a:r>
            <a:r>
              <a:rPr lang="ko-KR"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환자는 </a:t>
            </a:r>
            <a:endParaRPr lang="en-US" altLang="ko-KR" sz="280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매년 </a:t>
            </a:r>
            <a:r>
              <a:rPr lang="ko-KR" sz="28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10</a:t>
            </a:r>
            <a:r>
              <a:rPr lang="en-US" altLang="ko-KR" sz="28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-</a:t>
            </a:r>
            <a:r>
              <a:rPr lang="ko-KR" sz="28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15%</a:t>
            </a:r>
            <a:endParaRPr sz="2800">
              <a:solidFill>
                <a:srgbClr val="E37253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8" name="Google Shape;148;p17"/>
          <p:cNvSpPr txBox="1"/>
          <p:nvPr/>
        </p:nvSpPr>
        <p:spPr>
          <a:xfrm>
            <a:off x="9522997" y="5779305"/>
            <a:ext cx="51240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알츠하이머성 </a:t>
            </a:r>
            <a:r>
              <a:rPr lang="ko-KR" sz="2800" b="1"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</a:t>
            </a:r>
            <a:r>
              <a:rPr lang="ko-KR"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로 진행</a:t>
            </a:r>
            <a:endParaRPr sz="280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9" name="Google Shape;149;p17"/>
          <p:cNvSpPr/>
          <p:nvPr/>
        </p:nvSpPr>
        <p:spPr>
          <a:xfrm>
            <a:off x="11291947" y="3685656"/>
            <a:ext cx="1586100" cy="1817400"/>
          </a:xfrm>
          <a:prstGeom prst="downArrow">
            <a:avLst>
              <a:gd name="adj1" fmla="val 43823"/>
              <a:gd name="adj2" fmla="val 55295"/>
            </a:avLst>
          </a:prstGeom>
          <a:solidFill>
            <a:srgbClr val="FF8C6C"/>
          </a:solidFill>
          <a:ln w="9525" cap="flat" cmpd="sng">
            <a:solidFill>
              <a:srgbClr val="FF8C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50;p17"/>
          <p:cNvSpPr txBox="1"/>
          <p:nvPr/>
        </p:nvSpPr>
        <p:spPr>
          <a:xfrm>
            <a:off x="10140847" y="6671077"/>
            <a:ext cx="38883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경도인지장애는 </a:t>
            </a:r>
            <a:r>
              <a:rPr lang="ko-KR" sz="28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초기에</a:t>
            </a:r>
            <a:endParaRPr sz="2800" b="1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28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알아차리기 힘듦</a:t>
            </a:r>
            <a:endParaRPr sz="2800" b="1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10678697" y="2383007"/>
            <a:ext cx="68835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고령인구가 증가함에 따른  </a:t>
            </a:r>
            <a:endParaRPr sz="280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1"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독거노인 비중 증가</a:t>
            </a:r>
            <a:endParaRPr sz="3000" b="1"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775" y="3254287"/>
            <a:ext cx="7769324" cy="183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/>
          <p:cNvPicPr preferRelativeResize="0"/>
          <p:nvPr/>
        </p:nvPicPr>
        <p:blipFill rotWithShape="1">
          <a:blip r:embed="rId5">
            <a:alphaModFix/>
          </a:blip>
          <a:srcRect b="45292"/>
          <a:stretch/>
        </p:blipFill>
        <p:spPr>
          <a:xfrm>
            <a:off x="817775" y="1802550"/>
            <a:ext cx="7769324" cy="15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12180797" y="5163657"/>
            <a:ext cx="38793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사회적 고립으로 인해</a:t>
            </a:r>
            <a:endParaRPr sz="300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000" b="1"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조기 진단 어려움</a:t>
            </a:r>
            <a:endParaRPr sz="3000" b="1"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7775" y="5091825"/>
            <a:ext cx="9870650" cy="4657724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/>
          <p:nvPr/>
        </p:nvSpPr>
        <p:spPr>
          <a:xfrm>
            <a:off x="13721459" y="3886582"/>
            <a:ext cx="798000" cy="850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8C6C"/>
          </a:solidFill>
          <a:ln w="9525" cap="flat" cmpd="sng">
            <a:solidFill>
              <a:srgbClr val="FF8C6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11327309" y="6652007"/>
            <a:ext cx="55863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34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“</a:t>
            </a:r>
            <a:r>
              <a:rPr lang="ko-KR" sz="34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지역별 노인 거주 형태에</a:t>
            </a:r>
            <a:r>
              <a:rPr lang="ko-KR" sz="3400" b="1">
                <a:solidFill>
                  <a:srgbClr val="FF8C6C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ko-KR" sz="34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따른 </a:t>
            </a:r>
            <a:r>
              <a:rPr lang="ko-KR" sz="34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여부 예측</a:t>
            </a:r>
            <a:r>
              <a:rPr lang="en-US" altLang="ko-KR" sz="34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ko-KR" altLang="en-US" sz="34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필요</a:t>
            </a:r>
            <a:r>
              <a:rPr lang="ko-KR" sz="3400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”</a:t>
            </a:r>
            <a:endParaRPr sz="3400">
              <a:solidFill>
                <a:srgbClr val="E37253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3" name="TextBox 25">
            <a:extLst>
              <a:ext uri="{FF2B5EF4-FFF2-40B4-BE49-F238E27FC236}">
                <a16:creationId xmlns:a16="http://schemas.microsoft.com/office/drawing/2014/main" id="{670A4F62-C57A-FB35-6FA6-1A638B063118}"/>
              </a:ext>
            </a:extLst>
          </p:cNvPr>
          <p:cNvSpPr txBox="1"/>
          <p:nvPr/>
        </p:nvSpPr>
        <p:spPr>
          <a:xfrm>
            <a:off x="1238250" y="774700"/>
            <a:ext cx="13315950" cy="85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>
              <a:lnSpc>
                <a:spcPct val="99600"/>
              </a:lnSpc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기획서 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- </a:t>
            </a:r>
            <a:r>
              <a:rPr lang="ko-KR" altLang="en-US" sz="4800" b="0" i="0" u="none" strike="noStrike" dirty="0">
                <a:solidFill>
                  <a:srgbClr val="585755"/>
                </a:solidFill>
                <a:ea typeface="Kim jung chul Gothic Bold"/>
              </a:rPr>
              <a:t>기획 의도</a:t>
            </a:r>
            <a:r>
              <a:rPr lang="en-US" altLang="ko-KR" sz="4800" b="0" i="0" u="none" strike="noStrike" dirty="0">
                <a:solidFill>
                  <a:srgbClr val="585755"/>
                </a:solidFill>
                <a:ea typeface="Kim jung chul Gothic Bold"/>
              </a:rPr>
              <a:t>(</a:t>
            </a:r>
            <a:r>
              <a:rPr lang="en-US" altLang="ko-KR" sz="4800" dirty="0">
                <a:solidFill>
                  <a:srgbClr val="585755"/>
                </a:solidFill>
                <a:ea typeface="Kim jung chul Gothic Bold"/>
              </a:rPr>
              <a:t>2</a:t>
            </a:r>
            <a:r>
              <a:rPr lang="en-US" altLang="ko-KR" sz="4800" b="0" i="0" u="none" strike="noStrike" dirty="0">
                <a:solidFill>
                  <a:srgbClr val="585755"/>
                </a:solidFill>
                <a:ea typeface="Kim jung chul Gothic Bold"/>
              </a:rPr>
              <a:t>)</a:t>
            </a:r>
            <a:endParaRPr lang="ko-KR" sz="3600" b="0" i="0" u="none" strike="noStrike" dirty="0">
              <a:solidFill>
                <a:srgbClr val="585755"/>
              </a:solidFill>
              <a:ea typeface="Kim jung chul Gothic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19A47A5D-D962-74AB-38C9-00148DC3D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2E40064A-5072-4BF7-B403-32A96CB492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D9F1C96D-820F-A7A9-E60D-734F5E820B43}"/>
              </a:ext>
            </a:extLst>
          </p:cNvPr>
          <p:cNvSpPr txBox="1"/>
          <p:nvPr/>
        </p:nvSpPr>
        <p:spPr>
          <a:xfrm>
            <a:off x="936600" y="2324100"/>
            <a:ext cx="164148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4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경도인지장애</a:t>
            </a:r>
            <a:r>
              <a:rPr lang="en-US" altLang="ko-KR" sz="44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(MCI) </a:t>
            </a:r>
            <a:r>
              <a:rPr lang="ko-KR" altLang="en-US" sz="4400" b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기반 </a:t>
            </a:r>
            <a:r>
              <a:rPr lang="ko-KR" altLang="en-US" sz="4400" b="1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발생 예측 서비스</a:t>
            </a:r>
            <a:endParaRPr lang="en-US" altLang="ko-KR" sz="4000" b="1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6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경도인지장애 진단자 수를 기반으로 지역별 향후 </a:t>
            </a:r>
            <a:r>
              <a:rPr lang="ko-KR" altLang="en-US" sz="3600">
                <a:solidFill>
                  <a:srgbClr val="0070C0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환자 수 증가 예측</a:t>
            </a:r>
            <a:endParaRPr sz="3600">
              <a:solidFill>
                <a:srgbClr val="0070C0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2" name="Google Shape;163;p18">
            <a:extLst>
              <a:ext uri="{FF2B5EF4-FFF2-40B4-BE49-F238E27FC236}">
                <a16:creationId xmlns:a16="http://schemas.microsoft.com/office/drawing/2014/main" id="{6FA75A97-5F70-4F19-E829-80A0AD78EAD5}"/>
              </a:ext>
            </a:extLst>
          </p:cNvPr>
          <p:cNvSpPr txBox="1"/>
          <p:nvPr/>
        </p:nvSpPr>
        <p:spPr>
          <a:xfrm>
            <a:off x="952500" y="5448300"/>
            <a:ext cx="139446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4000" spc="3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경도인지장애 유병률 기반으로 지역별 치매발생률 예측</a:t>
            </a:r>
            <a:endParaRPr lang="en-US" altLang="ko-KR" sz="4000" spc="30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4000" spc="30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발생 위험 지역 순위화</a:t>
            </a:r>
            <a:endParaRPr sz="4000" spc="30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F49E0C80-5B9B-1489-F12B-6686EAE3A183}"/>
              </a:ext>
            </a:extLst>
          </p:cNvPr>
          <p:cNvSpPr txBox="1"/>
          <p:nvPr/>
        </p:nvSpPr>
        <p:spPr>
          <a:xfrm>
            <a:off x="1219200" y="787400"/>
            <a:ext cx="161322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lnSpc>
                <a:spcPct val="99600"/>
              </a:lnSpc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기획서 </a:t>
            </a: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- </a:t>
            </a:r>
            <a:r>
              <a:rPr 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개발 목표 (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1</a:t>
            </a:r>
            <a:r>
              <a:rPr 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)</a:t>
            </a: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: </a:t>
            </a:r>
            <a:r>
              <a:rPr lang="ko-KR" altLang="en-US" sz="4800" dirty="0" err="1"/>
              <a:t>디테일하게</a:t>
            </a:r>
            <a:r>
              <a:rPr lang="ko-KR" altLang="en-US" sz="4800" dirty="0"/>
              <a:t> 어떻게 하려고 했는지를 작성해서 어필</a:t>
            </a:r>
          </a:p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19200" y="7734300"/>
            <a:ext cx="11451566" cy="175432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경도 인지 장애의 분류 기준이 무엇인지</a:t>
            </a:r>
            <a:endParaRPr lang="en-US" altLang="ko-KR" sz="3600">
              <a:solidFill>
                <a:srgbClr val="C0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어떤 경도인지 장애시 치매로 분류될 수 있는지</a:t>
            </a:r>
            <a:endParaRPr lang="en-US" altLang="ko-KR" sz="3600">
              <a:solidFill>
                <a:srgbClr val="C0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경도인지 장애의 주요원인에는 어떤것들이 있는지 분석</a:t>
            </a:r>
          </a:p>
        </p:txBody>
      </p:sp>
    </p:spTree>
    <p:extLst>
      <p:ext uri="{BB962C8B-B14F-4D97-AF65-F5344CB8AC3E}">
        <p14:creationId xmlns:p14="http://schemas.microsoft.com/office/powerpoint/2010/main" val="139918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1F6337D2-4EEE-8288-B11C-D1A863B9F960}"/>
              </a:ext>
            </a:extLst>
          </p:cNvPr>
          <p:cNvSpPr txBox="1"/>
          <p:nvPr/>
        </p:nvSpPr>
        <p:spPr>
          <a:xfrm>
            <a:off x="936600" y="2324100"/>
            <a:ext cx="16414800" cy="2031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지역별 독거 노인 기반 </a:t>
            </a:r>
            <a:r>
              <a:rPr lang="ko-KR" altLang="en-US" sz="4400" b="1" dirty="0">
                <a:solidFill>
                  <a:srgbClr val="E37253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치매 위험 예측</a:t>
            </a:r>
            <a:endParaRPr lang="ko-KR" altLang="en-US" sz="4000" b="1" dirty="0">
              <a:solidFill>
                <a:srgbClr val="E37253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3600" dirty="0">
                <a:latin typeface="Kim jung chul Gothic Regular" panose="020B0600000101010101" charset="-127"/>
                <a:ea typeface="Kim jung chul Gothic Regular" panose="020B0600000101010101" charset="-127"/>
              </a:rPr>
              <a:t>독거노인의 비율과 치매 </a:t>
            </a:r>
            <a:r>
              <a:rPr lang="ko-KR" altLang="en-US" sz="3600" dirty="0" err="1">
                <a:latin typeface="Kim jung chul Gothic Regular" panose="020B0600000101010101" charset="-127"/>
                <a:ea typeface="Kim jung chul Gothic Regular" panose="020B0600000101010101" charset="-127"/>
              </a:rPr>
              <a:t>진단자</a:t>
            </a:r>
            <a:r>
              <a:rPr lang="ko-KR" altLang="en-US" sz="3600" dirty="0">
                <a:latin typeface="Kim jung chul Gothic Regular" panose="020B0600000101010101" charset="-127"/>
                <a:ea typeface="Kim jung chul Gothic Regular" panose="020B0600000101010101" charset="-127"/>
              </a:rPr>
              <a:t> 비율 비교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2" name="Google Shape;163;p18">
            <a:extLst>
              <a:ext uri="{FF2B5EF4-FFF2-40B4-BE49-F238E27FC236}">
                <a16:creationId xmlns:a16="http://schemas.microsoft.com/office/drawing/2014/main" id="{03602A8E-A9F7-D470-3663-1227FD635F0F}"/>
              </a:ext>
            </a:extLst>
          </p:cNvPr>
          <p:cNvSpPr txBox="1"/>
          <p:nvPr/>
        </p:nvSpPr>
        <p:spPr>
          <a:xfrm>
            <a:off x="952500" y="4762500"/>
            <a:ext cx="161322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독거노인의 비율과 추정 치매 </a:t>
            </a:r>
            <a:r>
              <a:rPr lang="ko-KR" altLang="en-US" sz="4000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진단자</a:t>
            </a:r>
            <a:r>
              <a:rPr lang="ko-KR" altLang="en-US" sz="40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비율로 둘의 상관관계 분석</a:t>
            </a:r>
            <a:endParaRPr lang="en-US" altLang="ko-KR" sz="40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 marL="571500" lvl="0" indent="-571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40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독거노인의 비율에 따른 치매 </a:t>
            </a:r>
            <a:r>
              <a:rPr lang="ko-KR" altLang="en-US" sz="4000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진단자</a:t>
            </a:r>
            <a:r>
              <a:rPr lang="ko-KR" altLang="en-US" sz="4000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증가 위험성 예측</a:t>
            </a:r>
            <a:endParaRPr lang="en-US" altLang="ko-KR" sz="40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83312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기획서 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- 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개발 목표 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(2)</a:t>
            </a:r>
            <a:endParaRPr lang="ko-KR" altLang="en-US" sz="4800" b="1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46200" y="6972300"/>
            <a:ext cx="15544800" cy="286232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독거노인 분류 기준이 무엇인지</a:t>
            </a:r>
            <a:endParaRPr lang="en-US" altLang="ko-KR" sz="3600">
              <a:solidFill>
                <a:srgbClr val="C0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독거노인 분류 기준별 치매 진단자와의 상관분석</a:t>
            </a:r>
            <a:endParaRPr lang="en-US" altLang="ko-KR" sz="3600">
              <a:solidFill>
                <a:srgbClr val="C0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통계자료</a:t>
            </a:r>
            <a:r>
              <a:rPr lang="en-US" altLang="ko-KR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 : </a:t>
            </a: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독거노인의 고립감</a:t>
            </a:r>
            <a:r>
              <a:rPr lang="en-US" altLang="ko-KR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우울증</a:t>
            </a:r>
            <a:r>
              <a:rPr lang="en-US" altLang="ko-KR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자살 위험</a:t>
            </a:r>
            <a:r>
              <a:rPr lang="en-US" altLang="ko-KR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, </a:t>
            </a: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안전 사고 위험등의 관련된 통계 및 분석 자료 필요</a:t>
            </a:r>
            <a:endParaRPr lang="en-US" altLang="ko-KR" sz="3600">
              <a:solidFill>
                <a:srgbClr val="C0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1</a:t>
            </a:r>
            <a:r>
              <a:rPr lang="ko-KR" altLang="en-US" sz="3600">
                <a:solidFill>
                  <a:srgbClr val="C00000"/>
                </a:solidFill>
                <a:latin typeface="CookieRun Regular" panose="020B0600000101010101" pitchFamily="50" charset="-127"/>
                <a:ea typeface="CookieRun Regular" panose="020B0600000101010101" pitchFamily="50" charset="-127"/>
              </a:rPr>
              <a:t>인가구와 독거노인간의 비율 분석 및 예측</a:t>
            </a:r>
            <a:endParaRPr lang="en-US" altLang="ko-KR" sz="3600">
              <a:solidFill>
                <a:srgbClr val="C00000"/>
              </a:solidFill>
              <a:latin typeface="CookieRun Regular" panose="020B0600000101010101" pitchFamily="50" charset="-127"/>
              <a:ea typeface="CookieRun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778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51816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사용 기술 목록</a:t>
            </a: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/</a:t>
            </a: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경험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8" name="Google Shape;162;p18">
            <a:extLst>
              <a:ext uri="{FF2B5EF4-FFF2-40B4-BE49-F238E27FC236}">
                <a16:creationId xmlns:a16="http://schemas.microsoft.com/office/drawing/2014/main" id="{C3E2F346-C596-4FC6-82AE-FB03E1591ED2}"/>
              </a:ext>
            </a:extLst>
          </p:cNvPr>
          <p:cNvSpPr txBox="1"/>
          <p:nvPr/>
        </p:nvSpPr>
        <p:spPr>
          <a:xfrm>
            <a:off x="936600" y="2324100"/>
            <a:ext cx="1641480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버전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적어줘야함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다양하고 자세하게 작성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9" name="Google Shape;162;p18">
            <a:extLst>
              <a:ext uri="{FF2B5EF4-FFF2-40B4-BE49-F238E27FC236}">
                <a16:creationId xmlns:a16="http://schemas.microsoft.com/office/drawing/2014/main" id="{A5F8CCE8-3FD8-4986-A6EA-5F99EF199351}"/>
              </a:ext>
            </a:extLst>
          </p:cNvPr>
          <p:cNvSpPr txBox="1"/>
          <p:nvPr/>
        </p:nvSpPr>
        <p:spPr>
          <a:xfrm>
            <a:off x="920750" y="5143500"/>
            <a:ext cx="16414800" cy="3570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altLang="ko-KR" sz="4400" dirty="0"/>
              <a:t>Java </a:t>
            </a:r>
            <a:r>
              <a:rPr lang="en-US" altLang="ko-KR" sz="4400" dirty="0" err="1"/>
              <a:t>jsp</a:t>
            </a:r>
            <a:r>
              <a:rPr lang="en-US" altLang="ko-KR" sz="4400" dirty="0"/>
              <a:t> python </a:t>
            </a:r>
            <a:r>
              <a:rPr lang="en-US" altLang="ko-KR" sz="4400" dirty="0" err="1"/>
              <a:t>numpy</a:t>
            </a:r>
            <a:r>
              <a:rPr lang="en-US" altLang="ko-KR" sz="4400" dirty="0"/>
              <a:t> </a:t>
            </a:r>
            <a:r>
              <a:rPr lang="en-US" altLang="ko-KR" sz="4400" dirty="0" err="1"/>
              <a:t>tensorflow</a:t>
            </a:r>
            <a:br>
              <a:rPr lang="en-US" altLang="ko-KR" sz="4400" dirty="0"/>
            </a:br>
            <a:r>
              <a:rPr lang="en-US" altLang="ko-KR" sz="4400" dirty="0"/>
              <a:t>html </a:t>
            </a:r>
            <a:r>
              <a:rPr lang="en-US" altLang="ko-KR" sz="4400" dirty="0" err="1"/>
              <a:t>css</a:t>
            </a:r>
            <a:r>
              <a:rPr lang="en-US" altLang="ko-KR" sz="4400" dirty="0"/>
              <a:t> bootstrap</a:t>
            </a:r>
          </a:p>
          <a:p>
            <a:pPr lvl="0"/>
            <a:r>
              <a:rPr lang="ko-KR" altLang="en-US" sz="4400" dirty="0"/>
              <a:t>서버</a:t>
            </a:r>
            <a:r>
              <a:rPr lang="en-US" altLang="ko-KR" sz="4400" dirty="0"/>
              <a:t>: Tomcat docker </a:t>
            </a:r>
            <a:r>
              <a:rPr lang="en-US" altLang="ko-KR" sz="4400" dirty="0" err="1"/>
              <a:t>aws</a:t>
            </a:r>
            <a:endParaRPr lang="en-US" altLang="ko-KR" sz="4400" dirty="0"/>
          </a:p>
          <a:p>
            <a:pPr lvl="0"/>
            <a:r>
              <a:rPr lang="en-US" altLang="ko-KR" sz="4400" dirty="0" err="1"/>
              <a:t>db</a:t>
            </a:r>
            <a:r>
              <a:rPr lang="en-US" altLang="ko-KR" sz="4400" dirty="0"/>
              <a:t>: Oracle</a:t>
            </a:r>
          </a:p>
          <a:p>
            <a:pPr lvl="0"/>
            <a:r>
              <a:rPr lang="en-US" altLang="ko-KR" sz="4400" dirty="0"/>
              <a:t>Framework: </a:t>
            </a:r>
            <a:r>
              <a:rPr lang="en-US" altLang="ko-KR" sz="4400" dirty="0" err="1"/>
              <a:t>springframework</a:t>
            </a:r>
            <a:r>
              <a:rPr lang="en-US" altLang="ko-KR" sz="4400" dirty="0"/>
              <a:t> </a:t>
            </a:r>
            <a:r>
              <a:rPr lang="en-US" altLang="ko-KR" sz="4400" dirty="0" err="1"/>
              <a:t>springboot</a:t>
            </a:r>
            <a:r>
              <a:rPr lang="en-US" altLang="ko-KR" sz="4400" dirty="0"/>
              <a:t> flask</a:t>
            </a:r>
          </a:p>
        </p:txBody>
      </p:sp>
    </p:spTree>
    <p:extLst>
      <p:ext uri="{BB962C8B-B14F-4D97-AF65-F5344CB8AC3E}">
        <p14:creationId xmlns:p14="http://schemas.microsoft.com/office/powerpoint/2010/main" val="271757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51816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학습 기술 목록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4" name="Google Shape;162;p18">
            <a:extLst>
              <a:ext uri="{FF2B5EF4-FFF2-40B4-BE49-F238E27FC236}">
                <a16:creationId xmlns:a16="http://schemas.microsoft.com/office/drawing/2014/main" id="{71D07853-6545-48A5-B003-4D1E0A869879}"/>
              </a:ext>
            </a:extLst>
          </p:cNvPr>
          <p:cNvSpPr txBox="1"/>
          <p:nvPr/>
        </p:nvSpPr>
        <p:spPr>
          <a:xfrm>
            <a:off x="936600" y="2324100"/>
            <a:ext cx="16414800" cy="695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ko-KR" altLang="en-US" sz="4400" dirty="0"/>
              <a:t>여기에 뭐 공부했는지 적자</a:t>
            </a:r>
          </a:p>
          <a:p>
            <a:pPr lvl="0"/>
            <a:r>
              <a:rPr lang="ko-KR" altLang="en-US" sz="4400" dirty="0" err="1"/>
              <a:t>머신러닝</a:t>
            </a:r>
            <a:r>
              <a:rPr lang="ko-KR" altLang="en-US" sz="4400" dirty="0"/>
              <a:t> </a:t>
            </a:r>
            <a:r>
              <a:rPr lang="ko-KR" altLang="en-US" sz="4400" dirty="0" err="1"/>
              <a:t>딥러닝</a:t>
            </a:r>
            <a:r>
              <a:rPr lang="ko-KR" altLang="en-US" sz="4400" dirty="0"/>
              <a:t> </a:t>
            </a:r>
            <a:r>
              <a:rPr lang="ko-KR" altLang="en-US" sz="4400" dirty="0" err="1"/>
              <a:t>파이썬</a:t>
            </a:r>
            <a:r>
              <a:rPr lang="ko-KR" altLang="en-US" sz="4400" dirty="0"/>
              <a:t> </a:t>
            </a:r>
            <a:r>
              <a:rPr lang="ko-KR" altLang="en-US" sz="4400" dirty="0" err="1"/>
              <a:t>등등등</a:t>
            </a:r>
            <a:r>
              <a:rPr lang="en-US" altLang="ko-KR" sz="4400" dirty="0"/>
              <a:t>…</a:t>
            </a:r>
          </a:p>
          <a:p>
            <a:pPr lvl="0"/>
            <a:r>
              <a:rPr lang="ko-KR" altLang="en-US" sz="4400" dirty="0" err="1"/>
              <a:t>파이썬이랑</a:t>
            </a:r>
            <a:r>
              <a:rPr lang="ko-KR" altLang="en-US" sz="4400" dirty="0"/>
              <a:t> 자바 하면서 했던 미니프로젝트도 작성</a:t>
            </a:r>
          </a:p>
          <a:p>
            <a:pPr lvl="0"/>
            <a:r>
              <a:rPr lang="ko-KR" altLang="en-US" sz="4400" dirty="0"/>
              <a:t>스프링 프레임워크에서 스프링</a:t>
            </a:r>
            <a:r>
              <a:rPr lang="en-US" altLang="ko-KR" sz="4400" dirty="0" err="1"/>
              <a:t>ioc</a:t>
            </a:r>
            <a:r>
              <a:rPr lang="ko-KR" altLang="en-US" sz="4400" dirty="0"/>
              <a:t> </a:t>
            </a:r>
            <a:r>
              <a:rPr lang="en-US" altLang="ko-KR" sz="4400" dirty="0"/>
              <a:t>di </a:t>
            </a:r>
            <a:r>
              <a:rPr lang="ko-KR" altLang="en-US" sz="4400" dirty="0" err="1"/>
              <a:t>마이바티스</a:t>
            </a:r>
            <a:r>
              <a:rPr lang="ko-KR" altLang="en-US" sz="4400" dirty="0"/>
              <a:t> </a:t>
            </a:r>
            <a:r>
              <a:rPr lang="en-US" altLang="ko-KR" sz="4400" dirty="0" err="1"/>
              <a:t>jdbc</a:t>
            </a:r>
            <a:r>
              <a:rPr lang="ko-KR" altLang="en-US" sz="4400" dirty="0"/>
              <a:t> </a:t>
            </a:r>
            <a:r>
              <a:rPr lang="en-US" altLang="ko-KR" sz="4400" dirty="0" err="1"/>
              <a:t>mvc</a:t>
            </a:r>
            <a:r>
              <a:rPr lang="ko-KR" altLang="en-US" sz="4400" dirty="0"/>
              <a:t> </a:t>
            </a:r>
            <a:r>
              <a:rPr lang="en-US" altLang="ko-KR" sz="4400" dirty="0"/>
              <a:t>pattern logging</a:t>
            </a:r>
          </a:p>
          <a:p>
            <a:pPr lvl="0"/>
            <a:r>
              <a:rPr lang="en-US" altLang="ko-KR" sz="4400" dirty="0" err="1"/>
              <a:t>db</a:t>
            </a:r>
            <a:r>
              <a:rPr lang="ko-KR" altLang="en-US" sz="4400" dirty="0"/>
              <a:t>에서 </a:t>
            </a:r>
            <a:r>
              <a:rPr lang="en-US" altLang="ko-KR" sz="4400" dirty="0" err="1"/>
              <a:t>dql</a:t>
            </a:r>
            <a:r>
              <a:rPr lang="ko-KR" altLang="en-US" sz="4400" dirty="0"/>
              <a:t>과 </a:t>
            </a:r>
            <a:r>
              <a:rPr lang="en-US" altLang="ko-KR" sz="4400" dirty="0" err="1"/>
              <a:t>dbms</a:t>
            </a:r>
            <a:r>
              <a:rPr lang="en-US" altLang="ko-KR" sz="4400" dirty="0"/>
              <a:t>. </a:t>
            </a:r>
            <a:r>
              <a:rPr lang="ko-KR" altLang="en-US" sz="4400" dirty="0"/>
              <a:t>관계 데이터모델 부속질의</a:t>
            </a:r>
            <a:r>
              <a:rPr lang="en-US" altLang="ko-KR" sz="4400" dirty="0"/>
              <a:t>(</a:t>
            </a:r>
            <a:r>
              <a:rPr lang="ko-KR" altLang="en-US" sz="4400" dirty="0" err="1"/>
              <a:t>서브쿼리</a:t>
            </a:r>
            <a:r>
              <a:rPr lang="en-US" altLang="ko-KR" sz="4400" dirty="0"/>
              <a:t>) </a:t>
            </a:r>
            <a:r>
              <a:rPr lang="ko-KR" altLang="en-US" sz="4400" dirty="0"/>
              <a:t>인덱스 </a:t>
            </a:r>
            <a:r>
              <a:rPr lang="en-US" altLang="ko-KR" sz="4400" dirty="0" err="1"/>
              <a:t>er</a:t>
            </a:r>
            <a:r>
              <a:rPr lang="ko-KR" altLang="en-US" sz="4400" dirty="0"/>
              <a:t>모델 정규화 데이터백업 등 공부했던 리스트 작성해주자</a:t>
            </a:r>
          </a:p>
          <a:p>
            <a:pPr lvl="0"/>
            <a:r>
              <a:rPr lang="ko-KR" altLang="en-US" sz="4400" dirty="0"/>
              <a:t>잘 몰라도 배운 거 써라</a:t>
            </a:r>
          </a:p>
          <a:p>
            <a:pPr lvl="0"/>
            <a:r>
              <a:rPr lang="ko-KR" altLang="en-US" sz="4400" dirty="0" err="1"/>
              <a:t>스프링부트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jsp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aws</a:t>
            </a:r>
            <a:r>
              <a:rPr lang="ko-KR" altLang="en-US" sz="4400" dirty="0"/>
              <a:t> </a:t>
            </a:r>
            <a:r>
              <a:rPr lang="en-US" altLang="ko-KR" sz="4400" dirty="0"/>
              <a:t>ec2, html/</a:t>
            </a:r>
            <a:r>
              <a:rPr lang="en-US" altLang="ko-KR" sz="4400" dirty="0" err="1"/>
              <a:t>css</a:t>
            </a:r>
            <a:r>
              <a:rPr lang="en-US" altLang="ko-KR" sz="4400" dirty="0"/>
              <a:t>/bootstrap5, </a:t>
            </a:r>
            <a:r>
              <a:rPr lang="en-US" altLang="ko-KR" sz="4400" dirty="0" err="1"/>
              <a:t>js</a:t>
            </a:r>
            <a:r>
              <a:rPr lang="en-US" altLang="ko-KR" sz="4400" dirty="0"/>
              <a:t>, </a:t>
            </a:r>
            <a:r>
              <a:rPr lang="en-US" altLang="ko-KR" sz="4400" dirty="0" err="1"/>
              <a:t>msa</a:t>
            </a:r>
            <a:r>
              <a:rPr lang="en-US" altLang="ko-KR" sz="4400" dirty="0"/>
              <a:t>, git </a:t>
            </a:r>
            <a:r>
              <a:rPr lang="ko-KR" altLang="en-US" sz="4400" dirty="0"/>
              <a:t>등 사용한 거 다 작성하자</a:t>
            </a:r>
          </a:p>
        </p:txBody>
      </p:sp>
    </p:spTree>
    <p:extLst>
      <p:ext uri="{BB962C8B-B14F-4D97-AF65-F5344CB8AC3E}">
        <p14:creationId xmlns:p14="http://schemas.microsoft.com/office/powerpoint/2010/main" val="331356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1F6337D2-4EEE-8288-B11C-D1A863B9F960}"/>
              </a:ext>
            </a:extLst>
          </p:cNvPr>
          <p:cNvSpPr txBox="1"/>
          <p:nvPr/>
        </p:nvSpPr>
        <p:spPr>
          <a:xfrm>
            <a:off x="936600" y="2324100"/>
            <a:ext cx="164148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며칠에 뭐 했고 그런 거 엑셀로 작성한 다음에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캡쳐해서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넣고 엑셀도 올리기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1, 2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차 나눠서 작성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51816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개발 스케줄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9784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69342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요구사항 분석서 및 명세서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9419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69342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화면 설계서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8311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058AC-779F-8CE2-A46A-AA34637C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인간의 얼굴, 의류, 미소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078A619-2E71-57B6-ADD5-A828BC1D08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8" t="8324" r="232" b="8894"/>
          <a:stretch>
            <a:fillRect/>
          </a:stretch>
        </p:blipFill>
        <p:spPr>
          <a:xfrm>
            <a:off x="423396" y="2873728"/>
            <a:ext cx="12649128" cy="6972359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339B5F43-4B95-1215-0A7D-573B1343AF9F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0F01DE0-CF5D-383C-6F6E-ADBA485718A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8"/>
          <a:ext cx="4529456" cy="569354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663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 err="1"/>
                        <a:t>No</a:t>
                      </a:r>
                      <a:r>
                        <a:rPr lang="ko-KR" altLang="en-US" sz="18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err="1"/>
                        <a:t>Description</a:t>
                      </a:r>
                      <a:endParaRPr lang="ko-KR" altLang="en-US" sz="18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6634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메인 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메인 기능(질병 정보) 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(MCI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예측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 </a:t>
                      </a:r>
                      <a:endParaRPr lang="ko-KR" altLang="en-US" sz="27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독거노인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예측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)로 </a:t>
                      </a:r>
                      <a:r>
                        <a:rPr lang="en-US" alt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이동</a:t>
                      </a:r>
                      <a:endParaRPr lang="en-US" altLang="ko-KR" sz="1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 센터 안내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27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5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메인 기능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(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로그인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/</a:t>
                      </a: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회원가입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270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663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6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이미지 수동으로 넘기기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7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/>
                        <a:t>이미지 자동으로 화면 전환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(</a:t>
                      </a:r>
                      <a:r>
                        <a:rPr lang="ko-KR" altLang="en-US" sz="1800" dirty="0" err="1"/>
                        <a:t>캐러셀</a:t>
                      </a:r>
                      <a:r>
                        <a:rPr lang="ko-KR" altLang="en-US" sz="1800" dirty="0"/>
                        <a:t>)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5040683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F151E22-5EB1-AF33-E3AD-2EA4771D113A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AD578C-3384-21C4-7238-8D5296E87182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482BC1-DAB6-662B-068E-ED9100AC6955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88123A0-C258-DF2D-D6C5-DD65BAAB1A7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9" cy="11614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메인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메인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" name="직사각형 2">
            <a:extLst>
              <a:ext uri="{FF2B5EF4-FFF2-40B4-BE49-F238E27FC236}">
                <a16:creationId xmlns:a16="http://schemas.microsoft.com/office/drawing/2014/main" id="{D03F28E9-488A-817E-18BE-25FDBE2C75F6}"/>
              </a:ext>
            </a:extLst>
          </p:cNvPr>
          <p:cNvSpPr/>
          <p:nvPr/>
        </p:nvSpPr>
        <p:spPr>
          <a:xfrm>
            <a:off x="451046" y="6028388"/>
            <a:ext cx="588308" cy="621926"/>
          </a:xfrm>
          <a:prstGeom prst="rect">
            <a:avLst/>
          </a:prstGeom>
          <a:solidFill>
            <a:srgbClr val="D9D9D9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0FFC12-3C01-215E-0EAE-1971C928F183}"/>
              </a:ext>
            </a:extLst>
          </p:cNvPr>
          <p:cNvSpPr/>
          <p:nvPr/>
        </p:nvSpPr>
        <p:spPr>
          <a:xfrm>
            <a:off x="12463598" y="6028387"/>
            <a:ext cx="588308" cy="621926"/>
          </a:xfrm>
          <a:prstGeom prst="rect">
            <a:avLst/>
          </a:prstGeom>
          <a:solidFill>
            <a:srgbClr val="D9D9D9">
              <a:alpha val="6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6" name="화살표: 왼쪽 15">
            <a:extLst>
              <a:ext uri="{FF2B5EF4-FFF2-40B4-BE49-F238E27FC236}">
                <a16:creationId xmlns:a16="http://schemas.microsoft.com/office/drawing/2014/main" id="{7D9E4870-4C9D-B4B5-0F11-48123D157AC2}"/>
              </a:ext>
            </a:extLst>
          </p:cNvPr>
          <p:cNvSpPr/>
          <p:nvPr/>
        </p:nvSpPr>
        <p:spPr>
          <a:xfrm>
            <a:off x="485774" y="6050891"/>
            <a:ext cx="471488" cy="557211"/>
          </a:xfrm>
          <a:prstGeom prst="leftArrow">
            <a:avLst/>
          </a:prstGeom>
          <a:solidFill>
            <a:srgbClr val="DEDEDE">
              <a:alpha val="68000"/>
            </a:srgbClr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D8127460-FA10-292C-39EF-42759C0DFE4F}"/>
              </a:ext>
            </a:extLst>
          </p:cNvPr>
          <p:cNvSpPr/>
          <p:nvPr/>
        </p:nvSpPr>
        <p:spPr>
          <a:xfrm>
            <a:off x="12512509" y="6079736"/>
            <a:ext cx="471488" cy="542925"/>
          </a:xfrm>
          <a:prstGeom prst="rightArrow">
            <a:avLst/>
          </a:prstGeom>
          <a:solidFill>
            <a:srgbClr val="DEDEDE">
              <a:alpha val="68000"/>
            </a:srgbClr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EEE9E882-55CA-9343-2228-BFFC01F8A438}"/>
              </a:ext>
            </a:extLst>
          </p:cNvPr>
          <p:cNvSpPr/>
          <p:nvPr/>
        </p:nvSpPr>
        <p:spPr>
          <a:xfrm>
            <a:off x="485032" y="242015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05557C44-4F42-DB75-235B-DFC11BC71DB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596246" y="2879766"/>
          <a:ext cx="251516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5163">
                  <a:extLst>
                    <a:ext uri="{9D8B030D-6E8A-4147-A177-3AD203B41FA5}">
                      <a16:colId xmlns:a16="http://schemas.microsoft.com/office/drawing/2014/main" val="3074523350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MCI 예측</a:t>
                      </a:r>
                    </a:p>
                  </a:txBody>
                  <a:tcPr marL="137160" marR="13716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>
                        <a:alpha val="6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595451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/>
                        <a:t>독거노인 치매 예측</a:t>
                      </a:r>
                    </a:p>
                  </a:txBody>
                  <a:tcPr marL="137160" marR="137160" marT="68580" marB="6858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>
                        <a:alpha val="69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4684584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CC397FF6-4591-DA87-A694-2B559254EF4D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691A66-9B72-C98F-D24A-298F14BF19E9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AEAFC4-95CA-043D-78CB-19B66368781B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E7598A2-25B1-CA1F-69A0-2FC79D30EEB2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76FEC6B-7396-E80D-8077-16AC1E759788}"/>
              </a:ext>
            </a:extLst>
          </p:cNvPr>
          <p:cNvSpPr/>
          <p:nvPr/>
        </p:nvSpPr>
        <p:spPr>
          <a:xfrm>
            <a:off x="3299857" y="16514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  <a:endParaRPr lang="ko-KR" altLang="en-US" sz="2700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455F91B-FF53-48B6-3259-2E806BEA6351}"/>
              </a:ext>
            </a:extLst>
          </p:cNvPr>
          <p:cNvSpPr/>
          <p:nvPr/>
        </p:nvSpPr>
        <p:spPr>
          <a:xfrm>
            <a:off x="10415030" y="16514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5</a:t>
            </a:r>
            <a:endParaRPr lang="ko-KR" altLang="en-US" sz="2700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2588D49-4613-308C-5D58-E79DCEC162A0}"/>
              </a:ext>
            </a:extLst>
          </p:cNvPr>
          <p:cNvSpPr/>
          <p:nvPr/>
        </p:nvSpPr>
        <p:spPr>
          <a:xfrm>
            <a:off x="5428693" y="16514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3</a:t>
            </a:r>
            <a:endParaRPr lang="ko-KR" altLang="en-US" sz="2700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F87B43C5-2032-426A-4E85-8ADC325338BB}"/>
              </a:ext>
            </a:extLst>
          </p:cNvPr>
          <p:cNvSpPr/>
          <p:nvPr/>
        </p:nvSpPr>
        <p:spPr>
          <a:xfrm>
            <a:off x="8029018" y="16514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4</a:t>
            </a:r>
            <a:endParaRPr lang="ko-KR" altLang="en-US" sz="2700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63C5176A-6640-987D-3DB0-3324E9CF4027}"/>
              </a:ext>
            </a:extLst>
          </p:cNvPr>
          <p:cNvSpPr/>
          <p:nvPr/>
        </p:nvSpPr>
        <p:spPr>
          <a:xfrm>
            <a:off x="96475" y="5448128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6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4FDE4FC-632D-EDE9-831C-6E2EA4C1353B}"/>
              </a:ext>
            </a:extLst>
          </p:cNvPr>
          <p:cNvSpPr/>
          <p:nvPr/>
        </p:nvSpPr>
        <p:spPr>
          <a:xfrm>
            <a:off x="7698112" y="6618670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E86E30-7641-DB71-EAD1-852BDF9A836B}"/>
              </a:ext>
            </a:extLst>
          </p:cNvPr>
          <p:cNvSpPr txBox="1"/>
          <p:nvPr/>
        </p:nvSpPr>
        <p:spPr>
          <a:xfrm>
            <a:off x="4877416" y="6938174"/>
            <a:ext cx="3742151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6000" err="1">
                <a:solidFill>
                  <a:schemeClr val="bg1"/>
                </a:solidFill>
                <a:ea typeface="맑은 고딕"/>
              </a:rPr>
              <a:t>Image</a:t>
            </a:r>
            <a:endParaRPr lang="ko-KR" altLang="en-US" sz="6000">
              <a:solidFill>
                <a:schemeClr val="bg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9176648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6C18D-B0D9-B97C-34ED-1A47FC3A8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B197F0D-A39B-676B-BB27-86C29664435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6" y="1811547"/>
          <a:ext cx="4572843" cy="39851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3354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69489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100650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107360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1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목록에서 원하는 위치 선택 시 </a:t>
                      </a:r>
                      <a:endParaRPr lang="ko-KR" altLang="en-US" sz="2700" b="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해당하는 위치로 이동</a:t>
                      </a:r>
                      <a:endParaRPr lang="ko-KR" sz="2700" b="0" dirty="0"/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9825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2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사용자가 위치한 스크롤 부분을 </a:t>
                      </a:r>
                      <a:endParaRPr lang="ko-KR" altLang="en-US" sz="2700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하이라이트로 표시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92242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3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주요 </a:t>
                      </a:r>
                      <a:r>
                        <a:rPr lang="ko-KR" altLang="en-US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용어나</a:t>
                      </a: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단계에서 </a:t>
                      </a:r>
                      <a:r>
                        <a:rPr lang="ko-KR" altLang="en-US" sz="1800" b="0" i="0" u="none" strike="noStrike" kern="1200" noProof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색상과</a:t>
                      </a: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 </a:t>
                      </a:r>
                      <a:endParaRPr lang="ko-KR" sz="2700" dirty="0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아이콘을</a:t>
                      </a:r>
                      <a:r>
                        <a:rPr lang="ko-KR" sz="1800" b="0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Malgun Gothic"/>
                          <a:ea typeface="Malgun Gothic"/>
                        </a:rPr>
                        <a:t> 활용해 가독성 향상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119611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8A2F4DCF-9819-4018-ECFD-6702DE055C38}"/>
              </a:ext>
            </a:extLst>
          </p:cNvPr>
          <p:cNvGraphicFramePr>
            <a:graphicFrameLocks noGrp="1"/>
          </p:cNvGraphicFramePr>
          <p:nvPr/>
        </p:nvGraphicFramePr>
        <p:xfrm>
          <a:off x="429596" y="393452"/>
          <a:ext cx="17413638" cy="1161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질병 정보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치매와 경도 인지 장애에 대한 기본 정보를 제공하는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C83C9F93-306B-2557-C431-5AAB8E9A85A6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3E1DC46-70A6-C159-05D2-DF30345D80C1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1422D8B-4521-7425-5890-6CD0002D8F49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EF6937C4-D4A4-A1F9-3D5D-CA2CD7DD51F7}"/>
              </a:ext>
            </a:extLst>
          </p:cNvPr>
          <p:cNvSpPr/>
          <p:nvPr/>
        </p:nvSpPr>
        <p:spPr>
          <a:xfrm>
            <a:off x="3089233" y="1807688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F0C9F5A-49C7-77D5-2081-7403FBADE4EE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E7C7BF26-12B9-7CC9-A0FC-B352B5C67A0F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AD11E9A-D38A-10BC-36D0-3CB3D9F73873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ea typeface="맑은 고딕"/>
              </a:rPr>
              <a:t>질병 정보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0870A2EF-A300-B6D0-4134-830925CB661A}"/>
              </a:ext>
            </a:extLst>
          </p:cNvPr>
          <p:cNvGraphicFramePr>
            <a:graphicFrameLocks noGrp="1"/>
          </p:cNvGraphicFramePr>
          <p:nvPr/>
        </p:nvGraphicFramePr>
        <p:xfrm>
          <a:off x="438150" y="2878366"/>
          <a:ext cx="2386071" cy="6952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87292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치매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25564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  <a:tr h="9041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b="1"/>
                        <a:t>경도 인지 장애(MCI)</a:t>
                      </a:r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495024"/>
                  </a:ext>
                </a:extLst>
              </a:tr>
              <a:tr h="261877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4153376"/>
                  </a:ext>
                </a:extLst>
              </a:tr>
            </a:tbl>
          </a:graphicData>
        </a:graphic>
      </p:graphicFrame>
      <p:pic>
        <p:nvPicPr>
          <p:cNvPr id="10" name="그림 9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893780-A06F-00CB-F1D2-450767E3D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3119" y="3841865"/>
            <a:ext cx="6056768" cy="4453845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20950C1-3A5D-AC26-0706-166A8CEF68DE}"/>
              </a:ext>
            </a:extLst>
          </p:cNvPr>
          <p:cNvSpPr/>
          <p:nvPr/>
        </p:nvSpPr>
        <p:spPr>
          <a:xfrm>
            <a:off x="618695" y="3880631"/>
            <a:ext cx="2061740" cy="651075"/>
          </a:xfrm>
          <a:prstGeom prst="roundRect">
            <a:avLst/>
          </a:prstGeom>
          <a:solidFill>
            <a:srgbClr val="EBCE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b="1" err="1">
                <a:solidFill>
                  <a:schemeClr val="bg1"/>
                </a:solidFill>
                <a:ea typeface="맑은 고딕"/>
              </a:rPr>
              <a:t>치매란</a:t>
            </a:r>
            <a:r>
              <a:rPr lang="ko-KR" altLang="en-US" b="1">
                <a:solidFill>
                  <a:schemeClr val="bg1"/>
                </a:solidFill>
                <a:ea typeface="맑은 고딕"/>
              </a:rPr>
              <a:t>?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2A55B0D-C9DE-F531-97AD-4F25B435892C}"/>
              </a:ext>
            </a:extLst>
          </p:cNvPr>
          <p:cNvSpPr/>
          <p:nvPr/>
        </p:nvSpPr>
        <p:spPr>
          <a:xfrm>
            <a:off x="618695" y="4604529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치매 자가진단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1A95AAB-A6B7-B432-247E-F6A1DC179583}"/>
              </a:ext>
            </a:extLst>
          </p:cNvPr>
          <p:cNvSpPr/>
          <p:nvPr/>
        </p:nvSpPr>
        <p:spPr>
          <a:xfrm>
            <a:off x="618695" y="5309379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치매 증상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4B7918A-6FC9-92D2-13CB-2C6EFCB9C673}"/>
              </a:ext>
            </a:extLst>
          </p:cNvPr>
          <p:cNvSpPr/>
          <p:nvPr/>
        </p:nvSpPr>
        <p:spPr>
          <a:xfrm>
            <a:off x="582409" y="7472918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경도 인지 장애란?</a:t>
            </a: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6F8072E-1CDE-8F89-0A3B-AFB0BFF0E445}"/>
              </a:ext>
            </a:extLst>
          </p:cNvPr>
          <p:cNvSpPr/>
          <p:nvPr/>
        </p:nvSpPr>
        <p:spPr>
          <a:xfrm>
            <a:off x="582409" y="819681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경도 인지 장애 자가진단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1FFE805-4B6A-C3DB-F277-DB1B9C48F95E}"/>
              </a:ext>
            </a:extLst>
          </p:cNvPr>
          <p:cNvSpPr/>
          <p:nvPr/>
        </p:nvSpPr>
        <p:spPr>
          <a:xfrm>
            <a:off x="582409" y="890166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rgbClr val="000000"/>
                </a:solidFill>
                <a:ea typeface="맑은 고딕"/>
              </a:rPr>
              <a:t>경도 인지 장애 증상</a:t>
            </a: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D4EEEE21-A67E-9A7D-0070-E0066457FF1B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AADCA440-AB7C-6D2F-CC4D-A2713E60292D}"/>
              </a:ext>
            </a:extLst>
          </p:cNvPr>
          <p:cNvSpPr/>
          <p:nvPr/>
        </p:nvSpPr>
        <p:spPr>
          <a:xfrm>
            <a:off x="284504" y="355647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100" dirty="0">
                <a:ea typeface="맑은 고딕"/>
              </a:rPr>
              <a:t>2</a:t>
            </a:r>
            <a:endParaRPr lang="ko-KR" altLang="en-US" sz="2700" dirty="0">
              <a:ea typeface="맑은 고딕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AC0E4D5-2643-1487-2DAA-0DFBF7360858}"/>
              </a:ext>
            </a:extLst>
          </p:cNvPr>
          <p:cNvSpPr/>
          <p:nvPr/>
        </p:nvSpPr>
        <p:spPr>
          <a:xfrm>
            <a:off x="4998781" y="4671776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100" dirty="0">
                <a:ea typeface="맑은 고딕"/>
              </a:rPr>
              <a:t>3</a:t>
            </a: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A598B2CC-EB00-6AC4-AF86-5747252E437D}"/>
              </a:ext>
            </a:extLst>
          </p:cNvPr>
          <p:cNvSpPr/>
          <p:nvPr/>
        </p:nvSpPr>
        <p:spPr>
          <a:xfrm>
            <a:off x="284503" y="2674154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2100" dirty="0">
                <a:ea typeface="맑은 고딕"/>
              </a:rPr>
              <a:t>1</a:t>
            </a:r>
            <a:endParaRPr lang="ko-KR" altLang="en-US" sz="27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0670153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02005-6487-DB9D-D6E6-A3F427359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6AF04E2-693D-1021-B063-A96BD20C31A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7"/>
          <a:ext cx="4529456" cy="80608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7009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716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MMSE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점수와 경도인지장애 </a:t>
                      </a:r>
                      <a:endParaRPr lang="ko-KR" altLang="en-US" sz="2700" b="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여부 중 선택해서 입력</a:t>
                      </a:r>
                      <a:endParaRPr lang="ko-KR" sz="2700" b="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7161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나이는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65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세 이상의 정수여야 </a:t>
                      </a:r>
                      <a:endParaRPr lang="ko-KR" altLang="en-US" sz="2700" b="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한다는 문구 출력</a:t>
                      </a:r>
                      <a:endParaRPr lang="ko-KR" sz="2700" b="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10056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af-ZA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MMSE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 시 숫자로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경도 인지 장애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여부 선택 시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라디오 </a:t>
                      </a:r>
                      <a:endParaRPr lang="ko-KR" sz="2700" dirty="0"/>
                    </a:p>
                    <a:p>
                      <a:pPr lvl="0" algn="ctr">
                        <a:buNone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버튼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통해 입력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10056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4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남성과 여성 중 선택할 수 있는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라디오 버튼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통해 입력</a:t>
                      </a:r>
                      <a:endParaRPr lang="ko-KR" altLang="en-US" sz="2700" dirty="0"/>
                    </a:p>
                    <a:p>
                      <a:pPr lvl="0" algn="ctr">
                        <a:buNone/>
                      </a:pP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5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당뇨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고혈압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우울증 여부 라디오 버튼 통해 입력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(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기본 선택 </a:t>
                      </a:r>
                      <a:r>
                        <a:rPr lang="af-ZA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x)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71615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6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교육 수준은 드롭다운 </a:t>
                      </a:r>
                      <a:endParaRPr lang="ko-KR" altLang="en-US" sz="270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통해 선택 가능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  <a:tr h="7009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7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</a:rPr>
                        <a:t>나이와 예측 기간은 정수로 입력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316770165"/>
                  </a:ext>
                </a:extLst>
              </a:tr>
              <a:tr h="178308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300" dirty="0"/>
                        <a:t>8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marL="171450" lvl="0" indent="-171450" algn="ctr">
                        <a:buFont typeface="Arial"/>
                        <a:buChar char="•"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버튼 클릭 시 정보가 나이 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65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세 이상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다른 정보 모두 기입 완료 시 </a:t>
                      </a:r>
                      <a:r>
                        <a:rPr lang="ko-KR" sz="1800" b="0" i="0" u="none" strike="noStrike" noProof="0" dirty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팝업창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이후 예측 시작 페이지로 이동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맑은 고딕"/>
                        </a:rPr>
                        <a:t>,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endParaRPr lang="ko-KR" altLang="en-US" sz="1800" b="0" i="0" u="none" strike="noStrike" noProof="0" dirty="0">
                        <a:solidFill>
                          <a:srgbClr val="000000"/>
                        </a:solidFill>
                      </a:endParaRPr>
                    </a:p>
                    <a:p>
                      <a:pPr marL="171450" lvl="0" indent="-171450" algn="ctr">
                        <a:buFont typeface="Arial"/>
                        <a:buChar char="•"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그렇지 않으면 안내 팝업만 </a:t>
                      </a:r>
                      <a:endParaRPr lang="ko-KR" altLang="en-US" sz="1800" b="0" i="0" u="none" strike="noStrike" noProof="0">
                        <a:solidFill>
                          <a:srgbClr val="000000"/>
                        </a:solidFill>
                      </a:endParaRPr>
                    </a:p>
                    <a:p>
                      <a:pPr marL="171450" lvl="0" indent="-171450" algn="ctr">
                        <a:buFont typeface="Arial"/>
                        <a:buChar char="•"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띄우고 페이지 유지</a:t>
                      </a:r>
                      <a:endParaRPr lang="ko-KR" altLang="en-US" sz="1800" b="0" i="0" u="none" strike="noStrike" noProof="0" dirty="0">
                        <a:solidFill>
                          <a:srgbClr val="000000"/>
                        </a:solidFill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83453318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2B9E750-E505-5AF7-FF5D-26EBE59F06DC}"/>
              </a:ext>
            </a:extLst>
          </p:cNvPr>
          <p:cNvGraphicFramePr>
            <a:graphicFrameLocks noGrp="1"/>
          </p:cNvGraphicFramePr>
          <p:nvPr/>
        </p:nvGraphicFramePr>
        <p:xfrm>
          <a:off x="429596" y="393452"/>
          <a:ext cx="17413638" cy="1161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MCI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경도 인지 장애와 지병 여부를 통해 향후 치매 진행 확률 예측을 위한 정보 입력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74" name="직사각형 73">
            <a:extLst>
              <a:ext uri="{FF2B5EF4-FFF2-40B4-BE49-F238E27FC236}">
                <a16:creationId xmlns:a16="http://schemas.microsoft.com/office/drawing/2014/main" id="{02A1C767-A23C-A909-0A5D-BD96013FD593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B72EDB1-54D8-3631-9DF7-9CEB0BB357E0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EB07ACE-3B6C-85AE-3AE7-F03E95C55F5C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E704A82E-C5A9-C8DA-9FDE-25AFB5C9A918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57B803C-1C4E-3BDE-D7F5-61DCE5DEC2B6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CE37536-FEA9-E685-D9F1-EBDDE8171D77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pic>
        <p:nvPicPr>
          <p:cNvPr id="7" name="그림 6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DC429F-AB35-50B7-6BBE-7CAB092B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863979"/>
            <a:ext cx="12649200" cy="6997443"/>
          </a:xfrm>
          <a:prstGeom prst="rect">
            <a:avLst/>
          </a:prstGeom>
        </p:spPr>
      </p:pic>
      <p:pic>
        <p:nvPicPr>
          <p:cNvPr id="8" name="그림 7" descr="화이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01F70C7-B361-ECCE-9A52-C767A2AA5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558" y="3429000"/>
            <a:ext cx="9158288" cy="6038850"/>
          </a:xfrm>
          <a:prstGeom prst="rect">
            <a:avLst/>
          </a:prstGeom>
        </p:spPr>
      </p:pic>
      <p:pic>
        <p:nvPicPr>
          <p:cNvPr id="9" name="그림 8" descr="폰트, 스크린샷, 화이트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237040E-9958-32DC-17E7-AB4409498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895" y="3059908"/>
            <a:ext cx="3757613" cy="852488"/>
          </a:xfrm>
          <a:prstGeom prst="rect">
            <a:avLst/>
          </a:prstGeom>
        </p:spPr>
      </p:pic>
      <p:pic>
        <p:nvPicPr>
          <p:cNvPr id="10" name="그림 9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93E685-8831-3556-5E90-FBF8CEC3F0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3288" y="4338638"/>
            <a:ext cx="5857875" cy="3438525"/>
          </a:xfrm>
          <a:prstGeom prst="rect">
            <a:avLst/>
          </a:prstGeom>
        </p:spPr>
      </p:pic>
      <p:pic>
        <p:nvPicPr>
          <p:cNvPr id="11" name="그림 10" descr="직사각형, 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285B07-097B-1FD4-DCD2-EB4F1F147D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333875"/>
            <a:ext cx="2819400" cy="3390900"/>
          </a:xfrm>
          <a:prstGeom prst="rect">
            <a:avLst/>
          </a:prstGeom>
        </p:spPr>
      </p:pic>
      <p:pic>
        <p:nvPicPr>
          <p:cNvPr id="12" name="그림 11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0ED4BA-DEB4-35EA-41A4-AEA5722300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695" y="8253413"/>
            <a:ext cx="3148013" cy="676275"/>
          </a:xfrm>
          <a:prstGeom prst="rect">
            <a:avLst/>
          </a:prstGeom>
        </p:spPr>
      </p:pic>
      <p:sp>
        <p:nvSpPr>
          <p:cNvPr id="100" name="타원 99">
            <a:extLst>
              <a:ext uri="{FF2B5EF4-FFF2-40B4-BE49-F238E27FC236}">
                <a16:creationId xmlns:a16="http://schemas.microsoft.com/office/drawing/2014/main" id="{7C805D0A-3E33-CAE6-EB8E-51B160CB9ACC}"/>
              </a:ext>
            </a:extLst>
          </p:cNvPr>
          <p:cNvSpPr/>
          <p:nvPr/>
        </p:nvSpPr>
        <p:spPr>
          <a:xfrm>
            <a:off x="3034108" y="466095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6A4E1C6D-2944-E09F-5534-235091E53654}"/>
              </a:ext>
            </a:extLst>
          </p:cNvPr>
          <p:cNvSpPr/>
          <p:nvPr/>
        </p:nvSpPr>
        <p:spPr>
          <a:xfrm>
            <a:off x="8626399" y="4020004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490F8AC-A623-38AE-E52E-5E507A49024D}"/>
              </a:ext>
            </a:extLst>
          </p:cNvPr>
          <p:cNvSpPr/>
          <p:nvPr/>
        </p:nvSpPr>
        <p:spPr>
          <a:xfrm>
            <a:off x="5935226" y="4652192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3</a:t>
            </a:r>
            <a:endParaRPr lang="ko-KR" altLang="en-US" sz="270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FCD2AB9-A6D5-9C7F-BA0B-2C53EBE5346B}"/>
              </a:ext>
            </a:extLst>
          </p:cNvPr>
          <p:cNvSpPr/>
          <p:nvPr/>
        </p:nvSpPr>
        <p:spPr>
          <a:xfrm>
            <a:off x="8622388" y="52997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4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912F7953-5935-C423-2112-A0E45ACE7541}"/>
              </a:ext>
            </a:extLst>
          </p:cNvPr>
          <p:cNvSpPr/>
          <p:nvPr/>
        </p:nvSpPr>
        <p:spPr>
          <a:xfrm>
            <a:off x="5928944" y="6127799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5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79F461E-5A95-2B05-5252-C2DAF96914BA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" name="TextBox 79">
            <a:extLst>
              <a:ext uri="{FF2B5EF4-FFF2-40B4-BE49-F238E27FC236}">
                <a16:creationId xmlns:a16="http://schemas.microsoft.com/office/drawing/2014/main" id="{8B1C3875-4E4D-E29F-1123-2C1FAF5DDA73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" name="TextBox 79">
            <a:extLst>
              <a:ext uri="{FF2B5EF4-FFF2-40B4-BE49-F238E27FC236}">
                <a16:creationId xmlns:a16="http://schemas.microsoft.com/office/drawing/2014/main" id="{F2429E6B-F441-76CC-2134-5FAEAB0E249E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6" name="TextBox 79">
            <a:extLst>
              <a:ext uri="{FF2B5EF4-FFF2-40B4-BE49-F238E27FC236}">
                <a16:creationId xmlns:a16="http://schemas.microsoft.com/office/drawing/2014/main" id="{6B19A591-B8E1-93FA-9B12-79573D215BA5}"/>
              </a:ext>
            </a:extLst>
          </p:cNvPr>
          <p:cNvSpPr txBox="1"/>
          <p:nvPr/>
        </p:nvSpPr>
        <p:spPr>
          <a:xfrm>
            <a:off x="3369167" y="7782858"/>
            <a:ext cx="1670100" cy="415498"/>
          </a:xfrm>
          <a:prstGeom prst="rect">
            <a:avLst/>
          </a:prstGeom>
          <a:noFill/>
        </p:spPr>
        <p:txBody>
          <a:bodyPr rot="0" spcFirstLastPara="0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57175" indent="-257175" algn="ctr">
              <a:buFont typeface="Arial"/>
              <a:buChar char="•"/>
            </a:pPr>
            <a:r>
              <a:rPr lang="ko-KR" altLang="en-US" dirty="0">
                <a:ea typeface="맑은 고딕"/>
              </a:rPr>
              <a:t> </a:t>
            </a:r>
            <a:r>
              <a:rPr lang="ko-KR" altLang="en-US" sz="1650" b="1" dirty="0">
                <a:ea typeface="맑은 고딕"/>
              </a:rPr>
              <a:t>예측 기간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4EF861BA-B19E-F430-9A19-7109F20FD884}"/>
              </a:ext>
            </a:extLst>
          </p:cNvPr>
          <p:cNvSpPr/>
          <p:nvPr/>
        </p:nvSpPr>
        <p:spPr>
          <a:xfrm>
            <a:off x="4487536" y="798576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8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DDBB7-EF1C-2042-D85C-66CC0E52E041}"/>
              </a:ext>
            </a:extLst>
          </p:cNvPr>
          <p:cNvSpPr/>
          <p:nvPr/>
        </p:nvSpPr>
        <p:spPr>
          <a:xfrm>
            <a:off x="6296527" y="7820527"/>
            <a:ext cx="2827421" cy="280736"/>
          </a:xfrm>
          <a:prstGeom prst="rect">
            <a:avLst/>
          </a:prstGeom>
          <a:noFill/>
          <a:ln>
            <a:solidFill>
              <a:srgbClr val="B0B0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2B23EAF-80B3-ACA0-CD64-A1A4915F1D08}"/>
              </a:ext>
            </a:extLst>
          </p:cNvPr>
          <p:cNvSpPr/>
          <p:nvPr/>
        </p:nvSpPr>
        <p:spPr>
          <a:xfrm>
            <a:off x="8622388" y="7085990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6</a:t>
            </a: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9C2A16D3-74EC-95FA-8379-151FF8EC0B0B}"/>
              </a:ext>
            </a:extLst>
          </p:cNvPr>
          <p:cNvSpPr/>
          <p:nvPr/>
        </p:nvSpPr>
        <p:spPr>
          <a:xfrm>
            <a:off x="5934223" y="7458352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098457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7BCA6-E89D-FBE6-EC0B-781446B8B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6F771F7-CF0D-029A-F49B-09EB45ABD55F}"/>
              </a:ext>
            </a:extLst>
          </p:cNvPr>
          <p:cNvGraphicFramePr>
            <a:graphicFrameLocks noGrp="1"/>
          </p:cNvGraphicFramePr>
          <p:nvPr/>
        </p:nvGraphicFramePr>
        <p:xfrm>
          <a:off x="13349377" y="1811548"/>
          <a:ext cx="4529456" cy="48001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8523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err="1"/>
                        <a:t>No</a:t>
                      </a:r>
                      <a:r>
                        <a:rPr lang="ko-KR" altLang="en-US" sz="210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8972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Y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축은 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0~100%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의 확률로 출력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10%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마다 구분선 추가</a:t>
                      </a:r>
                      <a:endParaRPr lang="ko-KR" altLang="en-US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8972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X</a:t>
                      </a:r>
                      <a:r>
                        <a:rPr lang="ko-KR" altLang="en-US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축은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1~n(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사용자 입력 정수</a:t>
                      </a:r>
                      <a:r>
                        <a:rPr lang="en-US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)</a:t>
                      </a:r>
                      <a:r>
                        <a:rPr lang="ko-KR" altLang="en-US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로 </a:t>
                      </a:r>
                      <a:r>
                        <a:rPr 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출력</a:t>
                      </a:r>
                      <a:endParaRPr lang="ko-KR" altLang="en-US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12561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각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값을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점으로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찍어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마우스로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각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값이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</a:rPr>
                        <a:t>몇퍼센트인지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확인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가능</a:t>
                      </a:r>
                      <a:endParaRPr lang="ko-KR" altLang="en-US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89721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/>
                        <a:t>4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af-ZA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</a:rPr>
                        <a:t>치매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예상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확률이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50%, 70%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가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넘어가는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첫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해를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af-ZA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글로</a:t>
                      </a:r>
                      <a:r>
                        <a:rPr lang="af-ZA" altLang="ko-KR" sz="1800" b="0" i="0" u="none" strike="noStrike" noProof="0">
                          <a:solidFill>
                            <a:srgbClr val="000000"/>
                          </a:solidFill>
                          <a:latin typeface="Malgun Gothic"/>
                        </a:rPr>
                        <a:t> </a:t>
                      </a:r>
                      <a:r>
                        <a:rPr lang="af-ZA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</a:rPr>
                        <a:t>출력</a:t>
                      </a:r>
                      <a:endParaRPr lang="ko-KR" altLang="en-US" sz="2700" err="1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5AAD46-C0B8-E0E0-7F79-800EADE676F0}"/>
              </a:ext>
            </a:extLst>
          </p:cNvPr>
          <p:cNvGraphicFramePr>
            <a:graphicFrameLocks noGrp="1"/>
          </p:cNvGraphicFramePr>
          <p:nvPr/>
        </p:nvGraphicFramePr>
        <p:xfrm>
          <a:off x="429596" y="393452"/>
          <a:ext cx="17413638" cy="1161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MCI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이전 페이지 입력을 바탕으로 예측된 결과를 시간과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확률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그래프로 확인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74" name="직사각형 73">
            <a:extLst>
              <a:ext uri="{FF2B5EF4-FFF2-40B4-BE49-F238E27FC236}">
                <a16:creationId xmlns:a16="http://schemas.microsoft.com/office/drawing/2014/main" id="{BAE26871-54D7-8F77-54A8-E5DE84D754D6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501609A7-5DBD-1683-7E07-4751B619518D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B392609-4C12-257F-73AF-11B77F3C703D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E704023-F504-2A1D-6763-3D1D7E2C214C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9216135F-FB2F-E2D6-BF73-6D6A6634493C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54DD8289-3E3E-919E-FAD1-06A70F8AD306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C72C823-31B9-AC4D-31E6-157DA571CA31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pic>
        <p:nvPicPr>
          <p:cNvPr id="3" name="그림 2" descr="스크린샷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8E2B10-F1FD-93AD-CD12-2B4DEE2EF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828" y="3941422"/>
            <a:ext cx="6680201" cy="4055159"/>
          </a:xfrm>
          <a:prstGeom prst="rect">
            <a:avLst/>
          </a:prstGeom>
        </p:spPr>
      </p:pic>
      <p:pic>
        <p:nvPicPr>
          <p:cNvPr id="4" name="그림 3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EADA72-1B4A-C986-839A-7733A4D71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444" y="8342428"/>
            <a:ext cx="6629400" cy="1185863"/>
          </a:xfrm>
          <a:prstGeom prst="rect">
            <a:avLst/>
          </a:prstGeom>
        </p:spPr>
      </p:pic>
      <p:pic>
        <p:nvPicPr>
          <p:cNvPr id="6" name="그림 5" descr="폰트, 그래픽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60C1EA-0654-4156-B96E-718EFD730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9363" y="2947421"/>
            <a:ext cx="4123419" cy="981303"/>
          </a:xfrm>
          <a:prstGeom prst="rect">
            <a:avLst/>
          </a:prstGeom>
        </p:spPr>
      </p:pic>
      <p:sp>
        <p:nvSpPr>
          <p:cNvPr id="27" name="타원 26">
            <a:extLst>
              <a:ext uri="{FF2B5EF4-FFF2-40B4-BE49-F238E27FC236}">
                <a16:creationId xmlns:a16="http://schemas.microsoft.com/office/drawing/2014/main" id="{535FBB84-18EB-A9E8-B229-FE1B5F30F3D4}"/>
              </a:ext>
            </a:extLst>
          </p:cNvPr>
          <p:cNvSpPr/>
          <p:nvPr/>
        </p:nvSpPr>
        <p:spPr>
          <a:xfrm>
            <a:off x="3097603" y="362331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96BDA8E-BF77-9F5B-9DF6-44F554E58EF6}"/>
              </a:ext>
            </a:extLst>
          </p:cNvPr>
          <p:cNvSpPr/>
          <p:nvPr/>
        </p:nvSpPr>
        <p:spPr>
          <a:xfrm>
            <a:off x="3097603" y="800815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4</a:t>
            </a: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35A63461-2F01-C208-97AD-B2863B700CC2}"/>
              </a:ext>
            </a:extLst>
          </p:cNvPr>
          <p:cNvSpPr/>
          <p:nvPr/>
        </p:nvSpPr>
        <p:spPr>
          <a:xfrm>
            <a:off x="10209604" y="7663439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D0CBBE-9CDE-5490-F757-8ACFD43FA4DB}"/>
              </a:ext>
            </a:extLst>
          </p:cNvPr>
          <p:cNvSpPr txBox="1"/>
          <p:nvPr/>
        </p:nvSpPr>
        <p:spPr>
          <a:xfrm>
            <a:off x="10403396" y="9317120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  <p:sp>
        <p:nvSpPr>
          <p:cNvPr id="7" name="말풍선: 사각형 6">
            <a:extLst>
              <a:ext uri="{FF2B5EF4-FFF2-40B4-BE49-F238E27FC236}">
                <a16:creationId xmlns:a16="http://schemas.microsoft.com/office/drawing/2014/main" id="{F5B37A5F-004C-167F-A9B6-AE5443E607F3}"/>
              </a:ext>
            </a:extLst>
          </p:cNvPr>
          <p:cNvSpPr/>
          <p:nvPr/>
        </p:nvSpPr>
        <p:spPr>
          <a:xfrm flipH="1">
            <a:off x="9176991" y="3686449"/>
            <a:ext cx="876495" cy="548537"/>
          </a:xfrm>
          <a:prstGeom prst="wedgeRectCallout">
            <a:avLst/>
          </a:prstGeom>
          <a:solidFill>
            <a:schemeClr val="bg1"/>
          </a:solidFill>
          <a:ln>
            <a:solidFill>
              <a:srgbClr val="B0B0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  <a:ea typeface="맑은 고딕"/>
              </a:rPr>
              <a:t>97%</a:t>
            </a:r>
            <a:endParaRPr lang="ko-KR" altLang="en-US" dirty="0" err="1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980BB8F-0F99-07F3-0EDF-1C1FF4B532EC}"/>
              </a:ext>
            </a:extLst>
          </p:cNvPr>
          <p:cNvSpPr/>
          <p:nvPr/>
        </p:nvSpPr>
        <p:spPr>
          <a:xfrm>
            <a:off x="8795414" y="3313928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3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303D12F9-A36C-A932-CE39-C68EB855AF96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1315362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49B5-A97A-CE27-3225-81A654F2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7227BD8-4162-D392-25DA-0AE00DC9982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8"/>
          <a:ext cx="4529456" cy="328168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90938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988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지역을 선택하기 전, 안내문구가 포함된 이미지 출력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138384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독거노인의 치매 위험도 예측 </a:t>
                      </a:r>
                      <a:endParaRPr lang="ko-KR" sz="2700" dirty="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결과를 보고자 하는 지역 클릭 시 지도와 함께 예측 결과 출력</a:t>
                      </a:r>
                      <a:endParaRPr lang="ko-KR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127BCCB1-A4C3-24DB-2F80-34FA590EC61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8" cy="1161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독거노인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 노인 치매 예측 페이지 기본 화면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0EBA934E-8708-E7AC-F884-B1DFD43C82F9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0C4D8C-D38B-FDBC-1319-0D7ABA1411DD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129BC3-308A-92C1-DCC3-8837B605FADD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3D5D47-82F4-A3C2-E5BC-9CAD7188A473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60A3F29-69AF-6CF7-7880-B588EEC4E047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EDC088B-ED54-D913-4B54-053B2EE72E8E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A559B9D-B697-AFAB-C159-003DFD2147E6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EEDED2A-4CC5-7129-4FE9-8C612264D767}"/>
              </a:ext>
            </a:extLst>
          </p:cNvPr>
          <p:cNvGraphicFramePr>
            <a:graphicFrameLocks noGrp="1"/>
          </p:cNvGraphicFramePr>
          <p:nvPr/>
        </p:nvGraphicFramePr>
        <p:xfrm>
          <a:off x="438150" y="2914650"/>
          <a:ext cx="2386071" cy="6932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9427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8937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77F3AD0-3E87-6002-0D5B-AD2331CD169D}"/>
              </a:ext>
            </a:extLst>
          </p:cNvPr>
          <p:cNvSpPr/>
          <p:nvPr/>
        </p:nvSpPr>
        <p:spPr>
          <a:xfrm>
            <a:off x="564266" y="4116488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노원구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6E900F7B-EF5B-8148-D0AC-095F0A74DBB7}"/>
              </a:ext>
            </a:extLst>
          </p:cNvPr>
          <p:cNvSpPr/>
          <p:nvPr/>
        </p:nvSpPr>
        <p:spPr>
          <a:xfrm>
            <a:off x="564266" y="484038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622E8E-62C0-3F8E-B50C-24B5F8676355}"/>
              </a:ext>
            </a:extLst>
          </p:cNvPr>
          <p:cNvSpPr/>
          <p:nvPr/>
        </p:nvSpPr>
        <p:spPr>
          <a:xfrm>
            <a:off x="564266" y="554523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E65495D-EBEE-D386-EACE-BE3FFEEDE7EE}"/>
              </a:ext>
            </a:extLst>
          </p:cNvPr>
          <p:cNvSpPr/>
          <p:nvPr/>
        </p:nvSpPr>
        <p:spPr>
          <a:xfrm>
            <a:off x="564266" y="625008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강남구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28BEB1C-3E2C-908D-D2EF-345E968E9758}"/>
              </a:ext>
            </a:extLst>
          </p:cNvPr>
          <p:cNvSpPr/>
          <p:nvPr/>
        </p:nvSpPr>
        <p:spPr>
          <a:xfrm>
            <a:off x="564266" y="697398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서초구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8FF42B9-5908-A3A3-F4F6-B1D8D9517F61}"/>
              </a:ext>
            </a:extLst>
          </p:cNvPr>
          <p:cNvSpPr/>
          <p:nvPr/>
        </p:nvSpPr>
        <p:spPr>
          <a:xfrm>
            <a:off x="564266" y="76788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영등포구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79DEC0-935A-F497-E3C5-976F0C2DBFCE}"/>
              </a:ext>
            </a:extLst>
          </p:cNvPr>
          <p:cNvSpPr/>
          <p:nvPr/>
        </p:nvSpPr>
        <p:spPr>
          <a:xfrm>
            <a:off x="4336337" y="3985516"/>
            <a:ext cx="6607566" cy="479674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700">
                <a:solidFill>
                  <a:schemeClr val="bg1"/>
                </a:solidFill>
                <a:ea typeface="맑은 고딕"/>
              </a:rPr>
              <a:t>지역을 선택해 주세요.</a:t>
            </a:r>
          </a:p>
          <a:p>
            <a:pPr algn="ctr"/>
            <a:endParaRPr lang="ko-KR" altLang="en-US" sz="270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55C343D-DB54-2BF0-86FE-12DA7C03F6C9}"/>
              </a:ext>
            </a:extLst>
          </p:cNvPr>
          <p:cNvSpPr/>
          <p:nvPr/>
        </p:nvSpPr>
        <p:spPr>
          <a:xfrm>
            <a:off x="5161354" y="520236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914300-DD06-3E2A-60DC-A897359A481B}"/>
              </a:ext>
            </a:extLst>
          </p:cNvPr>
          <p:cNvSpPr txBox="1"/>
          <p:nvPr/>
        </p:nvSpPr>
        <p:spPr>
          <a:xfrm>
            <a:off x="4616093" y="6705386"/>
            <a:ext cx="6033926" cy="3924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650">
                <a:solidFill>
                  <a:schemeClr val="bg2"/>
                </a:solidFill>
                <a:ea typeface="맑은 고딕"/>
              </a:rPr>
              <a:t> * 현재 해당 6지역의 예측 결과 서비스만 지원하고 있습니다. 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F4B2157-AE2A-DC03-E4DA-A9913A7F59CC}"/>
              </a:ext>
            </a:extLst>
          </p:cNvPr>
          <p:cNvSpPr/>
          <p:nvPr/>
        </p:nvSpPr>
        <p:spPr>
          <a:xfrm>
            <a:off x="525088" y="3791588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D67C9CC-4F01-3AD5-49B5-8988C8DAD985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ko-KR" altLang="en-US" sz="2700">
              <a:solidFill>
                <a:schemeClr val="tx1"/>
              </a:solidFill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96564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989689-5195-8D9D-92E5-BAB6A7294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86B3B3B-6BDB-59C8-6915-E2AAD5ADDE2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7"/>
          <a:ext cx="4529456" cy="67632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7253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11038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선택한 지역의 치매 위험도 예측 결과(위험정도)가 등급별 </a:t>
                      </a:r>
                      <a:endParaRPr lang="ko-KR" altLang="en-US" sz="270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다른 색상으로 지도에 표시됨</a:t>
                      </a:r>
                      <a:r>
                        <a:rPr lang="ko-KR" altLang="en-US" sz="1800" dirty="0"/>
                        <a:t> </a:t>
                      </a:r>
                      <a:endParaRPr lang="ko-KR" altLang="en-US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14192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지도 위에 마우스 커서를 올리면 해당 지역의 독거 노인 인구 수, 치매노인 인구 수, 치매 위험도에 대한 간단한 수치 제공 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72539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지도 확대/축소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선택 지역의 치매 위험 예측 </a:t>
                      </a:r>
                      <a:endParaRPr lang="ko-KR" sz="2700" dirty="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점수와 발생 등급을 </a:t>
                      </a:r>
                      <a:endParaRPr lang="ko-KR" sz="2700" dirty="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텍스트로 제공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157497965"/>
                  </a:ext>
                </a:extLst>
              </a:tr>
              <a:tr h="110386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5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선택한 지역의 환경요인 데이터 분석에 대한 시각화 자료 </a:t>
                      </a:r>
                      <a:r>
                        <a:rPr lang="ko-KR" altLang="en-US" sz="1800" dirty="0" err="1"/>
                        <a:t>팝업창</a:t>
                      </a:r>
                      <a:r>
                        <a:rPr lang="ko-KR" altLang="en-US" sz="1800" dirty="0"/>
                        <a:t> 출력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772261593"/>
                  </a:ext>
                </a:extLst>
              </a:tr>
              <a:tr h="72539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6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치매 센터 안내 페이지로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76338854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D07414D-E769-5554-3FC7-B52B2ED5756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8" cy="1161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독거노인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선택한 지역의 독거 노인 치매 예측 결과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41BFA2AA-BEFE-BCBF-BB08-1C541825A3C2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897EA41-F861-E387-D940-28FEAED8F801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E3FF13-89FD-9002-3A64-CD03DEBBE13B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603B012-0025-862C-0417-45E24D6DB156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BDB0AC1-4FA2-C25C-9133-AD2487FBB16B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E0C9E6D-2578-AF37-8F1A-B066EAAC9800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EB98DC8-E75D-7A71-8C57-348201F47813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5A2C73F-4BD0-A8C2-FA95-1FD72C51CE9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32164" y="2916901"/>
          <a:ext cx="2386071" cy="6933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100648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270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66BC3E7-C395-663F-6403-D300AD5CAB79}"/>
              </a:ext>
            </a:extLst>
          </p:cNvPr>
          <p:cNvSpPr/>
          <p:nvPr/>
        </p:nvSpPr>
        <p:spPr>
          <a:xfrm>
            <a:off x="564266" y="4116488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노원구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13A863C-939B-7178-8B37-F8018F028EA8}"/>
              </a:ext>
            </a:extLst>
          </p:cNvPr>
          <p:cNvSpPr/>
          <p:nvPr/>
        </p:nvSpPr>
        <p:spPr>
          <a:xfrm>
            <a:off x="564266" y="484038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68FD61A-328F-77B5-185D-D72619657570}"/>
              </a:ext>
            </a:extLst>
          </p:cNvPr>
          <p:cNvSpPr/>
          <p:nvPr/>
        </p:nvSpPr>
        <p:spPr>
          <a:xfrm>
            <a:off x="564266" y="554523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55D3F0C-CBD7-D922-5A38-E89A8A90450C}"/>
              </a:ext>
            </a:extLst>
          </p:cNvPr>
          <p:cNvSpPr/>
          <p:nvPr/>
        </p:nvSpPr>
        <p:spPr>
          <a:xfrm>
            <a:off x="564266" y="6250086"/>
            <a:ext cx="2061740" cy="651075"/>
          </a:xfrm>
          <a:prstGeom prst="roundRect">
            <a:avLst/>
          </a:prstGeom>
          <a:solidFill>
            <a:srgbClr val="EBCE5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b="1">
                <a:solidFill>
                  <a:schemeClr val="bg1"/>
                </a:solidFill>
                <a:ea typeface="맑은 고딕"/>
              </a:rPr>
              <a:t>강남구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DFB3669-CAA7-6438-1A08-51E0E861E5CB}"/>
              </a:ext>
            </a:extLst>
          </p:cNvPr>
          <p:cNvSpPr/>
          <p:nvPr/>
        </p:nvSpPr>
        <p:spPr>
          <a:xfrm>
            <a:off x="564266" y="697398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서초구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9000FFCD-6DE7-6F3E-E317-9968B72F4D15}"/>
              </a:ext>
            </a:extLst>
          </p:cNvPr>
          <p:cNvSpPr/>
          <p:nvPr/>
        </p:nvSpPr>
        <p:spPr>
          <a:xfrm>
            <a:off x="564266" y="76788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영등포구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4BE4E-0029-385D-ECA7-5B2C0150F922}"/>
              </a:ext>
            </a:extLst>
          </p:cNvPr>
          <p:cNvSpPr txBox="1"/>
          <p:nvPr/>
        </p:nvSpPr>
        <p:spPr>
          <a:xfrm>
            <a:off x="3872749" y="7670607"/>
            <a:ext cx="7786304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700" dirty="0">
                <a:ea typeface="맑은 고딕"/>
              </a:rPr>
              <a:t>강남구의 독거 노인 치매 위험 예측 점수는 </a:t>
            </a:r>
            <a:r>
              <a:rPr lang="ko-KR" altLang="en-US" sz="2700" b="1" dirty="0">
                <a:ea typeface="맑은 고딕"/>
              </a:rPr>
              <a:t>48점</a:t>
            </a:r>
            <a:r>
              <a:rPr lang="ko-KR" altLang="en-US" sz="2700" dirty="0">
                <a:ea typeface="맑은 고딕"/>
              </a:rPr>
              <a:t>,</a:t>
            </a:r>
            <a:endParaRPr lang="ko-KR" altLang="en-US" sz="2700" dirty="0"/>
          </a:p>
          <a:p>
            <a:pPr algn="ctr"/>
            <a:r>
              <a:rPr lang="ko-KR" altLang="en-US" sz="2700" dirty="0">
                <a:ea typeface="맑은 고딕"/>
              </a:rPr>
              <a:t>치매 발생 확률</a:t>
            </a:r>
            <a:r>
              <a:rPr lang="ko-KR" altLang="en-US" sz="2700" b="1" dirty="0">
                <a:ea typeface="맑은 고딕"/>
              </a:rPr>
              <a:t> 낮음 </a:t>
            </a:r>
            <a:r>
              <a:rPr lang="ko-KR" altLang="en-US" sz="2700" dirty="0">
                <a:ea typeface="맑은 고딕"/>
              </a:rPr>
              <a:t>입니다.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D3E9BF1-7C53-C382-E2B2-CE5D1A0E304A}"/>
              </a:ext>
            </a:extLst>
          </p:cNvPr>
          <p:cNvSpPr/>
          <p:nvPr/>
        </p:nvSpPr>
        <p:spPr>
          <a:xfrm>
            <a:off x="5366285" y="8807714"/>
            <a:ext cx="2070183" cy="59746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자세히 알아보기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45F853F4-0D55-92A8-B185-5E6AD1778369}"/>
              </a:ext>
            </a:extLst>
          </p:cNvPr>
          <p:cNvSpPr/>
          <p:nvPr/>
        </p:nvSpPr>
        <p:spPr>
          <a:xfrm>
            <a:off x="7779281" y="8807712"/>
            <a:ext cx="1997613" cy="61560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치매 센터 안내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9533ECD4-1E71-1F3E-F71F-2765839C93F8}"/>
              </a:ext>
            </a:extLst>
          </p:cNvPr>
          <p:cNvSpPr/>
          <p:nvPr/>
        </p:nvSpPr>
        <p:spPr>
          <a:xfrm>
            <a:off x="3496747" y="717358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4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0B22137-8B04-1C51-5CD6-3E4148EAFD3C}"/>
              </a:ext>
            </a:extLst>
          </p:cNvPr>
          <p:cNvSpPr/>
          <p:nvPr/>
        </p:nvSpPr>
        <p:spPr>
          <a:xfrm>
            <a:off x="4950569" y="8489452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5</a:t>
            </a: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E0D5FE8-5AA4-5BB0-15DC-AAB58E7FAED1}"/>
              </a:ext>
            </a:extLst>
          </p:cNvPr>
          <p:cNvSpPr/>
          <p:nvPr/>
        </p:nvSpPr>
        <p:spPr>
          <a:xfrm>
            <a:off x="7412182" y="848945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6</a:t>
            </a:r>
          </a:p>
        </p:txBody>
      </p:sp>
      <p:pic>
        <p:nvPicPr>
          <p:cNvPr id="18" name="그림 17" descr="지도, 아틀라스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CA7BE1-2FD4-1914-EE88-FE5939E35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708" y="3480027"/>
            <a:ext cx="5027160" cy="4034520"/>
          </a:xfrm>
          <a:prstGeom prst="rect">
            <a:avLst/>
          </a:prstGeom>
        </p:spPr>
      </p:pic>
      <p:sp>
        <p:nvSpPr>
          <p:cNvPr id="58" name="타원 57">
            <a:extLst>
              <a:ext uri="{FF2B5EF4-FFF2-40B4-BE49-F238E27FC236}">
                <a16:creationId xmlns:a16="http://schemas.microsoft.com/office/drawing/2014/main" id="{9DB1AE26-2E3D-C7A3-3452-8C4A1C5993DA}"/>
              </a:ext>
            </a:extLst>
          </p:cNvPr>
          <p:cNvSpPr/>
          <p:nvPr/>
        </p:nvSpPr>
        <p:spPr>
          <a:xfrm>
            <a:off x="6218176" y="450658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pic>
        <p:nvPicPr>
          <p:cNvPr id="20" name="그림 19" descr="텍스트, 스크린샷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CB66C2-2064-213B-6A1C-6E038B76F6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18486" y="5127851"/>
            <a:ext cx="2990171" cy="1791155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E9B325B-718A-26D0-1848-7EF50AD2634B}"/>
              </a:ext>
            </a:extLst>
          </p:cNvPr>
          <p:cNvSpPr/>
          <p:nvPr/>
        </p:nvSpPr>
        <p:spPr>
          <a:xfrm>
            <a:off x="7297371" y="5302840"/>
            <a:ext cx="979713" cy="402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50">
                <a:solidFill>
                  <a:schemeClr val="tx1"/>
                </a:solidFill>
                <a:ea typeface="맑은 고딕"/>
              </a:rPr>
              <a:t>강남구</a:t>
            </a:r>
          </a:p>
        </p:txBody>
      </p:sp>
      <p:pic>
        <p:nvPicPr>
          <p:cNvPr id="22" name="그림 21" descr="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5CD88A-EBB3-965C-36E1-950182C9E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7897" y="4967401"/>
            <a:ext cx="1319211" cy="115048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52E4F51B-2B2F-4728-8E3D-8C8D4345FE47}"/>
              </a:ext>
            </a:extLst>
          </p:cNvPr>
          <p:cNvSpPr/>
          <p:nvPr/>
        </p:nvSpPr>
        <p:spPr>
          <a:xfrm>
            <a:off x="9380483" y="3566948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+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68A5A61-35BA-8840-B0FD-5DA2C905933E}"/>
              </a:ext>
            </a:extLst>
          </p:cNvPr>
          <p:cNvSpPr/>
          <p:nvPr/>
        </p:nvSpPr>
        <p:spPr>
          <a:xfrm>
            <a:off x="9380481" y="4093089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-</a:t>
            </a:r>
            <a:endParaRPr lang="ko-KR" altLang="en-US" sz="270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3AAC44B-52AE-AE63-6BD7-F562C3EDFCFA}"/>
              </a:ext>
            </a:extLst>
          </p:cNvPr>
          <p:cNvSpPr/>
          <p:nvPr/>
        </p:nvSpPr>
        <p:spPr>
          <a:xfrm>
            <a:off x="8594888" y="4796867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522F496-B056-7BCE-ADED-55680245C75F}"/>
              </a:ext>
            </a:extLst>
          </p:cNvPr>
          <p:cNvSpPr/>
          <p:nvPr/>
        </p:nvSpPr>
        <p:spPr>
          <a:xfrm>
            <a:off x="8803703" y="3102734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3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4CA7B69D-421C-4F7E-67F2-B224860E1693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ko-KR" altLang="en-US" sz="270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EE505-BF72-DB23-DCCC-85B7BDC7F1A9}"/>
              </a:ext>
            </a:extLst>
          </p:cNvPr>
          <p:cNvSpPr txBox="1"/>
          <p:nvPr/>
        </p:nvSpPr>
        <p:spPr>
          <a:xfrm>
            <a:off x="10381830" y="9230857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</p:spTree>
    <p:extLst>
      <p:ext uri="{BB962C8B-B14F-4D97-AF65-F5344CB8AC3E}">
        <p14:creationId xmlns:p14="http://schemas.microsoft.com/office/powerpoint/2010/main" val="4085070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E43D7-D394-A2E0-6F86-7B4690428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28DE35E-A94E-B5AE-EF93-4CDF11CA6CB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7"/>
          <a:ext cx="4529456" cy="48005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83632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16391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선택된 지역의 데이터 값과 서울시 전체 데이터의 평균값을 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/>
                        <a:t>비교하는 막대 그래프나 원형 </a:t>
                      </a:r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그래프 출력 </a:t>
                      </a:r>
                      <a:endParaRPr lang="ko-KR" sz="270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127121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그래프에 대한 간략한 설명 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텍스트로 출력, 비교 환경 요인과 비교 결과 수치에 강조 표시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10537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클릭 시 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팝업창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종료, 팝업창이 실행되는 동안 선택한 지역의 </a:t>
                      </a:r>
                      <a:endParaRPr lang="ko-KR" altLang="en-US" sz="2700" dirty="0"/>
                    </a:p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예측 결과 페이지 유지됨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FAD494-A2FE-7196-41E4-7D49B085B2A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8" cy="1161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독거노인 치매 예측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독거 노인 치매 페이지 -&gt; 지역별 환경요인 데이터 비교 시각화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4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4BC2770A-C632-9901-002B-0A83F455D267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EA1C2B7-ED9E-77A5-38A8-F66925BD0C37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endParaRPr lang="ko-KR" altLang="en-US" sz="270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46D919-0BF9-198E-D059-AAF84168F708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81ADDF-3C54-5826-9AE6-330E17788576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치매 센터 안내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720013D-AFBE-3A39-76D5-64983FAA9343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5A4881F-54DF-C21A-A0EC-183D43658B8E}"/>
              </a:ext>
            </a:extLst>
          </p:cNvPr>
          <p:cNvSpPr/>
          <p:nvPr/>
        </p:nvSpPr>
        <p:spPr>
          <a:xfrm>
            <a:off x="5611090" y="1825831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504850-D4B0-F9EB-15F5-54E2E5D8335A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EA6853-5C06-3FE2-CC0E-55A622B38C30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err="1">
                <a:solidFill>
                  <a:srgbClr val="0042C7"/>
                </a:solidFill>
                <a:ea typeface="맑은 고딕"/>
              </a:rPr>
              <a:t>SolCare</a:t>
            </a:r>
            <a:endParaRPr lang="ko-KR" altLang="en-US" sz="3000" b="1">
              <a:solidFill>
                <a:srgbClr val="0042C7"/>
              </a:solidFill>
              <a:ea typeface="맑은 고딕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B70CEE7-016A-7DDA-A476-7DA0E4D0A3CA}"/>
              </a:ext>
            </a:extLst>
          </p:cNvPr>
          <p:cNvGraphicFramePr>
            <a:graphicFrameLocks noGrp="1"/>
          </p:cNvGraphicFramePr>
          <p:nvPr/>
        </p:nvGraphicFramePr>
        <p:xfrm>
          <a:off x="432164" y="2916901"/>
          <a:ext cx="2386071" cy="6933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100648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270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0322B14-9774-6753-5DEC-968812023283}"/>
              </a:ext>
            </a:extLst>
          </p:cNvPr>
          <p:cNvSpPr/>
          <p:nvPr/>
        </p:nvSpPr>
        <p:spPr>
          <a:xfrm>
            <a:off x="564266" y="4116488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노원구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54C400B-1438-D8F5-904F-BC36A6998CE3}"/>
              </a:ext>
            </a:extLst>
          </p:cNvPr>
          <p:cNvSpPr/>
          <p:nvPr/>
        </p:nvSpPr>
        <p:spPr>
          <a:xfrm>
            <a:off x="564266" y="484038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74EFC4D-3BD5-9055-E0C8-1B79FBBD00CC}"/>
              </a:ext>
            </a:extLst>
          </p:cNvPr>
          <p:cNvSpPr/>
          <p:nvPr/>
        </p:nvSpPr>
        <p:spPr>
          <a:xfrm>
            <a:off x="564266" y="554523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D273A2A-CA34-5955-4586-FBC080D2A600}"/>
              </a:ext>
            </a:extLst>
          </p:cNvPr>
          <p:cNvSpPr/>
          <p:nvPr/>
        </p:nvSpPr>
        <p:spPr>
          <a:xfrm>
            <a:off x="564266" y="6250086"/>
            <a:ext cx="2061740" cy="651075"/>
          </a:xfrm>
          <a:prstGeom prst="roundRect">
            <a:avLst/>
          </a:prstGeom>
          <a:solidFill>
            <a:srgbClr val="F5E29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b="1">
                <a:solidFill>
                  <a:schemeClr val="bg1"/>
                </a:solidFill>
                <a:ea typeface="맑은 고딕"/>
              </a:rPr>
              <a:t>강남구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A093A98-680F-56B1-1295-7D1E31A9D6EA}"/>
              </a:ext>
            </a:extLst>
          </p:cNvPr>
          <p:cNvSpPr/>
          <p:nvPr/>
        </p:nvSpPr>
        <p:spPr>
          <a:xfrm>
            <a:off x="564266" y="697398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서초구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3DCBB9C-4E52-2D85-FD84-C22B39E93193}"/>
              </a:ext>
            </a:extLst>
          </p:cNvPr>
          <p:cNvSpPr/>
          <p:nvPr/>
        </p:nvSpPr>
        <p:spPr>
          <a:xfrm>
            <a:off x="564266" y="76788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영등포구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93E497-CAC8-67B2-7D71-A6F949B6DB3D}"/>
              </a:ext>
            </a:extLst>
          </p:cNvPr>
          <p:cNvSpPr txBox="1"/>
          <p:nvPr/>
        </p:nvSpPr>
        <p:spPr>
          <a:xfrm>
            <a:off x="3872749" y="7670607"/>
            <a:ext cx="7786304" cy="969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700">
                <a:ea typeface="맑은 고딕"/>
              </a:rPr>
              <a:t>강남구의 독거 노인 치매 위험 예측 점수는 48점,</a:t>
            </a:r>
            <a:endParaRPr lang="ko-KR" altLang="en-US" sz="2700"/>
          </a:p>
          <a:p>
            <a:pPr algn="ctr"/>
            <a:r>
              <a:rPr lang="ko-KR" altLang="en-US" sz="2700" b="1">
                <a:ea typeface="맑은 고딕"/>
              </a:rPr>
              <a:t>치매 발생 확률 낮음 </a:t>
            </a:r>
            <a:r>
              <a:rPr lang="ko-KR" altLang="en-US" sz="2700">
                <a:ea typeface="맑은 고딕"/>
              </a:rPr>
              <a:t>입니다.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CA35580-35E1-CD22-EFBD-514B6F5BB21E}"/>
              </a:ext>
            </a:extLst>
          </p:cNvPr>
          <p:cNvSpPr/>
          <p:nvPr/>
        </p:nvSpPr>
        <p:spPr>
          <a:xfrm>
            <a:off x="5366285" y="8807714"/>
            <a:ext cx="2070183" cy="59746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자세히 알아보기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89558E-5DF5-7F9F-1046-D44CA61DE539}"/>
              </a:ext>
            </a:extLst>
          </p:cNvPr>
          <p:cNvSpPr/>
          <p:nvPr/>
        </p:nvSpPr>
        <p:spPr>
          <a:xfrm>
            <a:off x="7779281" y="8807712"/>
            <a:ext cx="1997613" cy="61560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치매 센터 안내</a:t>
            </a:r>
          </a:p>
        </p:txBody>
      </p:sp>
      <p:pic>
        <p:nvPicPr>
          <p:cNvPr id="18" name="그림 17" descr="지도, 아틀라스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B78025-E65F-3486-098F-2E57FDA8E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5708" y="3480027"/>
            <a:ext cx="5027160" cy="4034520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A16884-6202-EFEB-EA51-BCC1C6131095}"/>
              </a:ext>
            </a:extLst>
          </p:cNvPr>
          <p:cNvSpPr/>
          <p:nvPr/>
        </p:nvSpPr>
        <p:spPr>
          <a:xfrm>
            <a:off x="7297371" y="5302840"/>
            <a:ext cx="979713" cy="4026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50">
                <a:solidFill>
                  <a:schemeClr val="tx1"/>
                </a:solidFill>
                <a:ea typeface="맑은 고딕"/>
              </a:rPr>
              <a:t>강남구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9BAD098-E869-CCF7-C668-8CEF5F366F91}"/>
              </a:ext>
            </a:extLst>
          </p:cNvPr>
          <p:cNvSpPr/>
          <p:nvPr/>
        </p:nvSpPr>
        <p:spPr>
          <a:xfrm>
            <a:off x="9380483" y="3566948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+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E7B0208-6C9A-84F6-3A9F-B05CA9B86107}"/>
              </a:ext>
            </a:extLst>
          </p:cNvPr>
          <p:cNvSpPr/>
          <p:nvPr/>
        </p:nvSpPr>
        <p:spPr>
          <a:xfrm>
            <a:off x="9380481" y="4093089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-</a:t>
            </a:r>
            <a:endParaRPr lang="ko-KR" altLang="en-US" sz="27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891D914-84FA-53A4-01AB-C88A04E592A4}"/>
              </a:ext>
            </a:extLst>
          </p:cNvPr>
          <p:cNvSpPr/>
          <p:nvPr/>
        </p:nvSpPr>
        <p:spPr>
          <a:xfrm>
            <a:off x="428625" y="1790139"/>
            <a:ext cx="12631830" cy="8043021"/>
          </a:xfrm>
          <a:prstGeom prst="rect">
            <a:avLst/>
          </a:prstGeom>
          <a:solidFill>
            <a:srgbClr val="DEDEDE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350901-3FA7-4773-BC24-DF62C242D98A}"/>
              </a:ext>
            </a:extLst>
          </p:cNvPr>
          <p:cNvSpPr/>
          <p:nvPr/>
        </p:nvSpPr>
        <p:spPr>
          <a:xfrm>
            <a:off x="2069354" y="2017058"/>
            <a:ext cx="9339699" cy="78050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CEC25221-3391-D1E4-0696-865D04D25E7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074093" y="2008850"/>
          <a:ext cx="1855694" cy="77957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5694">
                  <a:extLst>
                    <a:ext uri="{9D8B030D-6E8A-4147-A177-3AD203B41FA5}">
                      <a16:colId xmlns:a16="http://schemas.microsoft.com/office/drawing/2014/main" val="2969468402"/>
                    </a:ext>
                  </a:extLst>
                </a:gridCol>
              </a:tblGrid>
              <a:tr h="103276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dirty="0"/>
                        <a:t>환경 요인</a:t>
                      </a:r>
                      <a:endParaRPr lang="ko-KR" sz="2100" dirty="0"/>
                    </a:p>
                    <a:p>
                      <a:pPr lvl="0" algn="ctr">
                        <a:buNone/>
                      </a:pPr>
                      <a:r>
                        <a:rPr lang="ko-KR" altLang="en-US" sz="2100" dirty="0"/>
                        <a:t>선택</a:t>
                      </a:r>
                    </a:p>
                  </a:txBody>
                  <a:tcPr marL="137160" marR="137160" marT="68580" marB="68580" anchor="ctr">
                    <a:lnR w="12700">
                      <a:solidFill>
                        <a:schemeClr val="tx1"/>
                      </a:solidFill>
                    </a:lnR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305876"/>
                  </a:ext>
                </a:extLst>
              </a:tr>
              <a:tr h="6762959">
                <a:tc>
                  <a:txBody>
                    <a:bodyPr/>
                    <a:lstStyle/>
                    <a:p>
                      <a:pPr algn="ctr" latinLnBrk="1"/>
                      <a:endParaRPr lang="ko-KR" altLang="en-US" sz="2700"/>
                    </a:p>
                  </a:txBody>
                  <a:tcPr marL="137160" marR="137160" marT="68580" marB="68580" anchor="ctr"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64327184"/>
                  </a:ext>
                </a:extLst>
              </a:tr>
            </a:tbl>
          </a:graphicData>
        </a:graphic>
      </p:graphicFrame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D78BD7E-9865-F110-75A6-1D840756EA2B}"/>
              </a:ext>
            </a:extLst>
          </p:cNvPr>
          <p:cNvSpPr/>
          <p:nvPr/>
        </p:nvSpPr>
        <p:spPr>
          <a:xfrm>
            <a:off x="2183020" y="3989761"/>
            <a:ext cx="1608170" cy="66921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성별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FDD705D5-360D-32D4-7DC5-C011D7C504B3}"/>
              </a:ext>
            </a:extLst>
          </p:cNvPr>
          <p:cNvSpPr/>
          <p:nvPr/>
        </p:nvSpPr>
        <p:spPr>
          <a:xfrm>
            <a:off x="2183020" y="4713659"/>
            <a:ext cx="1608170" cy="669218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연령대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C882A3DE-D429-B877-3139-6B09E4E90F8C}"/>
              </a:ext>
            </a:extLst>
          </p:cNvPr>
          <p:cNvSpPr/>
          <p:nvPr/>
        </p:nvSpPr>
        <p:spPr>
          <a:xfrm>
            <a:off x="2183020" y="5418509"/>
            <a:ext cx="1608170" cy="669218"/>
          </a:xfrm>
          <a:prstGeom prst="roundRect">
            <a:avLst/>
          </a:prstGeom>
          <a:solidFill>
            <a:srgbClr val="EBCE5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b="1" dirty="0">
                <a:solidFill>
                  <a:schemeClr val="bg1"/>
                </a:solidFill>
                <a:ea typeface="맑은 고딕"/>
              </a:rPr>
              <a:t>소득 수준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373A51BC-5AE8-D0D0-1F78-42182921CB5F}"/>
              </a:ext>
            </a:extLst>
          </p:cNvPr>
          <p:cNvSpPr/>
          <p:nvPr/>
        </p:nvSpPr>
        <p:spPr>
          <a:xfrm>
            <a:off x="2183020" y="6233243"/>
            <a:ext cx="1608170" cy="669218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주거 형태</a:t>
            </a:r>
          </a:p>
        </p:txBody>
      </p:sp>
      <p:graphicFrame>
        <p:nvGraphicFramePr>
          <p:cNvPr id="49" name="차트 48">
            <a:extLst>
              <a:ext uri="{FF2B5EF4-FFF2-40B4-BE49-F238E27FC236}">
                <a16:creationId xmlns:a16="http://schemas.microsoft.com/office/drawing/2014/main" id="{10A2316B-CAC2-486A-7EB2-8806FD6F8B21}"/>
              </a:ext>
            </a:extLst>
          </p:cNvPr>
          <p:cNvGraphicFramePr/>
          <p:nvPr>
            <p:extLst/>
          </p:nvPr>
        </p:nvGraphicFramePr>
        <p:xfrm>
          <a:off x="4431887" y="2872532"/>
          <a:ext cx="6006378" cy="46525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8" name="타원 57">
            <a:extLst>
              <a:ext uri="{FF2B5EF4-FFF2-40B4-BE49-F238E27FC236}">
                <a16:creationId xmlns:a16="http://schemas.microsoft.com/office/drawing/2014/main" id="{6BCD4F51-8B34-89AB-B189-C2B43ADF502E}"/>
              </a:ext>
            </a:extLst>
          </p:cNvPr>
          <p:cNvSpPr/>
          <p:nvPr/>
        </p:nvSpPr>
        <p:spPr>
          <a:xfrm>
            <a:off x="4567175" y="2819297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CCE70F86-6BA5-6430-CC79-1ECE8F74AB54}"/>
              </a:ext>
            </a:extLst>
          </p:cNvPr>
          <p:cNvSpPr/>
          <p:nvPr/>
        </p:nvSpPr>
        <p:spPr>
          <a:xfrm>
            <a:off x="9568166" y="8927455"/>
            <a:ext cx="1126757" cy="52489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  <a:ea typeface="맑은 고딕"/>
              </a:rPr>
              <a:t>닫기</a:t>
            </a: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CD9AD853-CE2D-8292-D8D3-FA6DD04B70FB}"/>
              </a:ext>
            </a:extLst>
          </p:cNvPr>
          <p:cNvSpPr/>
          <p:nvPr/>
        </p:nvSpPr>
        <p:spPr>
          <a:xfrm>
            <a:off x="9139174" y="8534294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113115-B353-90CA-3B20-713296866C27}"/>
              </a:ext>
            </a:extLst>
          </p:cNvPr>
          <p:cNvSpPr txBox="1"/>
          <p:nvPr/>
        </p:nvSpPr>
        <p:spPr>
          <a:xfrm>
            <a:off x="10537730" y="9391172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104023F-1AAA-64AE-3980-FEC69F61C1E0}"/>
              </a:ext>
            </a:extLst>
          </p:cNvPr>
          <p:cNvSpPr/>
          <p:nvPr/>
        </p:nvSpPr>
        <p:spPr>
          <a:xfrm>
            <a:off x="2183018" y="3256514"/>
            <a:ext cx="1608170" cy="669218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/>
                </a:solidFill>
                <a:ea typeface="맑은 고딕"/>
              </a:rPr>
              <a:t>독거 여부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E8EA1-6981-292B-08DE-3B46AF80FC6A}"/>
              </a:ext>
            </a:extLst>
          </p:cNvPr>
          <p:cNvSpPr txBox="1"/>
          <p:nvPr/>
        </p:nvSpPr>
        <p:spPr>
          <a:xfrm>
            <a:off x="4133024" y="7635113"/>
            <a:ext cx="6800157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100" dirty="0">
                <a:ea typeface="+mn-lt"/>
                <a:cs typeface="+mn-lt"/>
              </a:rPr>
              <a:t>강남구는 서울시 평균보다 </a:t>
            </a:r>
            <a:r>
              <a:rPr lang="ko-KR" altLang="en-US" sz="2100" b="1" dirty="0">
                <a:ea typeface="+mn-lt"/>
                <a:cs typeface="+mn-lt"/>
              </a:rPr>
              <a:t>사회취약 독거노인 비율</a:t>
            </a:r>
            <a:r>
              <a:rPr lang="ko-KR" altLang="en-US" sz="2100" dirty="0">
                <a:ea typeface="+mn-lt"/>
                <a:cs typeface="+mn-lt"/>
              </a:rPr>
              <a:t>이</a:t>
            </a:r>
            <a:r>
              <a:rPr lang="ko-KR" altLang="en-US" sz="2100" b="1" dirty="0">
                <a:ea typeface="+mn-lt"/>
                <a:cs typeface="+mn-lt"/>
              </a:rPr>
              <a:t> 약 13%</a:t>
            </a:r>
            <a:r>
              <a:rPr lang="ko-KR" altLang="en-US" sz="2100" dirty="0">
                <a:ea typeface="+mn-lt"/>
                <a:cs typeface="+mn-lt"/>
              </a:rPr>
              <a:t> 낮습니다.</a:t>
            </a:r>
            <a:endParaRPr lang="ko-KR" altLang="en-US" sz="2100">
              <a:ea typeface="맑은 고딕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B49C8B4C-8A55-9353-62CE-CB9D97941AB9}"/>
              </a:ext>
            </a:extLst>
          </p:cNvPr>
          <p:cNvSpPr/>
          <p:nvPr/>
        </p:nvSpPr>
        <p:spPr>
          <a:xfrm>
            <a:off x="3754679" y="7184728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ea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03391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F9819-7734-10B2-8F38-1BD6B5AFD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2455B7-4E6A-19A5-1874-B72FFCBCD83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8"/>
          <a:ext cx="4529456" cy="230932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66340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지역을 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선택하기 전, 서울시 전체 지도 제공</a:t>
                      </a:r>
                      <a:endParaRPr lang="ko-KR" sz="1800" b="0" i="0" u="none" strike="noStrike" noProof="0" dirty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가나다 순으로 서울시 구 정렬, 클릭 시 해당 지역의 치매 센터 위치가 지도에 표시됨.</a:t>
                      </a:r>
                      <a:endParaRPr lang="ko-KR" sz="2700" dirty="0"/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F14EA1C-11F3-D072-78DF-9CDDEBDFC56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8" cy="1161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치매 센터 안내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치매 센터 안내 페이지 기본 화면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5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34AD8270-F868-E10D-6812-F6B1DCDE87AE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D5E7FC-7684-EC36-CD60-3DBD7BBDAD4D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A0806E-075F-E2F0-767E-F4D8973A9A4A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0BCF516-B11A-146D-9A40-DF762BF9DE68}"/>
              </a:ext>
            </a:extLst>
          </p:cNvPr>
          <p:cNvSpPr/>
          <p:nvPr/>
        </p:nvSpPr>
        <p:spPr>
          <a:xfrm>
            <a:off x="7961788" y="1804265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7344802-C588-91E3-24A6-164F50FF7669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1CA207A1-C5E5-7552-9CD8-89F2B7A331FC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noProof="1">
                <a:solidFill>
                  <a:srgbClr val="0042C7"/>
                </a:solidFill>
                <a:ea typeface="맑은 고딕"/>
              </a:rPr>
              <a:t>SolCare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777D13-FCAA-2B61-BE4F-32A0AF344EC4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 dirty="0">
                <a:ea typeface="맑은 고딕"/>
              </a:rPr>
              <a:t>치매 센터 안내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79DC0F06-17A8-202F-B3B6-69AFE7B28077}"/>
              </a:ext>
            </a:extLst>
          </p:cNvPr>
          <p:cNvSpPr/>
          <p:nvPr/>
        </p:nvSpPr>
        <p:spPr>
          <a:xfrm>
            <a:off x="506597" y="3433757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A97F3941-63BC-F9C6-214A-6508714FB0A4}"/>
              </a:ext>
            </a:extLst>
          </p:cNvPr>
          <p:cNvGraphicFramePr>
            <a:graphicFrameLocks noGrp="1"/>
          </p:cNvGraphicFramePr>
          <p:nvPr/>
        </p:nvGraphicFramePr>
        <p:xfrm>
          <a:off x="438150" y="2914650"/>
          <a:ext cx="2386071" cy="6932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9427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8937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D84914B-C0A4-FB39-A081-A3FD1EFB84C4}"/>
              </a:ext>
            </a:extLst>
          </p:cNvPr>
          <p:cNvSpPr/>
          <p:nvPr/>
        </p:nvSpPr>
        <p:spPr>
          <a:xfrm>
            <a:off x="607399" y="4008657"/>
            <a:ext cx="2061740" cy="651075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강남구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6834E09-7B22-1B71-C252-0CEB8AE63309}"/>
              </a:ext>
            </a:extLst>
          </p:cNvPr>
          <p:cNvSpPr/>
          <p:nvPr/>
        </p:nvSpPr>
        <p:spPr>
          <a:xfrm>
            <a:off x="607399" y="473255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강동구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9FC58A4-8B1E-4C6C-F0CE-53EA043C4E45}"/>
              </a:ext>
            </a:extLst>
          </p:cNvPr>
          <p:cNvSpPr/>
          <p:nvPr/>
        </p:nvSpPr>
        <p:spPr>
          <a:xfrm>
            <a:off x="607399" y="543740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강북구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71C7F901-A7E8-CFA1-816A-51F64D04D0DF}"/>
              </a:ext>
            </a:extLst>
          </p:cNvPr>
          <p:cNvSpPr/>
          <p:nvPr/>
        </p:nvSpPr>
        <p:spPr>
          <a:xfrm>
            <a:off x="607399" y="614225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E8999E4E-9365-1945-D01F-470C894BEFF1}"/>
              </a:ext>
            </a:extLst>
          </p:cNvPr>
          <p:cNvSpPr/>
          <p:nvPr/>
        </p:nvSpPr>
        <p:spPr>
          <a:xfrm>
            <a:off x="607399" y="6866154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관악구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1B5CDA42-E32B-D8CA-71E5-6A6DD777AE66}"/>
              </a:ext>
            </a:extLst>
          </p:cNvPr>
          <p:cNvSpPr/>
          <p:nvPr/>
        </p:nvSpPr>
        <p:spPr>
          <a:xfrm>
            <a:off x="607399" y="7571004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광진구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680C831-F5B0-CAE9-7B6A-02A60D554A72}"/>
              </a:ext>
            </a:extLst>
          </p:cNvPr>
          <p:cNvSpPr/>
          <p:nvPr/>
        </p:nvSpPr>
        <p:spPr>
          <a:xfrm>
            <a:off x="607399" y="82140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/>
                </a:solidFill>
                <a:ea typeface="맑은 고딕"/>
              </a:rPr>
              <a:t>구로구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6F8EDBF-23A7-3699-B133-F1867D794677}"/>
              </a:ext>
            </a:extLst>
          </p:cNvPr>
          <p:cNvSpPr/>
          <p:nvPr/>
        </p:nvSpPr>
        <p:spPr>
          <a:xfrm>
            <a:off x="585833" y="8851670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1E7FE57-CCAE-38B5-A40A-6C1719D9208B}"/>
              </a:ext>
            </a:extLst>
          </p:cNvPr>
          <p:cNvSpPr txBox="1"/>
          <p:nvPr/>
        </p:nvSpPr>
        <p:spPr>
          <a:xfrm>
            <a:off x="10554359" y="9317120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  <p:pic>
        <p:nvPicPr>
          <p:cNvPr id="52" name="그림 51" descr="지도, 텍스트, 아틀라스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8E5005-A05D-1A31-3828-3B72BF5F9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8254" y="3757074"/>
            <a:ext cx="7886700" cy="4886325"/>
          </a:xfrm>
          <a:prstGeom prst="rect">
            <a:avLst/>
          </a:prstGeom>
        </p:spPr>
      </p:pic>
      <p:sp>
        <p:nvSpPr>
          <p:cNvPr id="53" name="타원 52">
            <a:extLst>
              <a:ext uri="{FF2B5EF4-FFF2-40B4-BE49-F238E27FC236}">
                <a16:creationId xmlns:a16="http://schemas.microsoft.com/office/drawing/2014/main" id="{914B75D6-4C0A-4E53-28D2-AF0F90CC3A1B}"/>
              </a:ext>
            </a:extLst>
          </p:cNvPr>
          <p:cNvSpPr/>
          <p:nvPr/>
        </p:nvSpPr>
        <p:spPr>
          <a:xfrm>
            <a:off x="3759560" y="3433946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809FDB4-43CA-B251-056F-2873106C6007}"/>
              </a:ext>
            </a:extLst>
          </p:cNvPr>
          <p:cNvSpPr/>
          <p:nvPr/>
        </p:nvSpPr>
        <p:spPr>
          <a:xfrm>
            <a:off x="11192030" y="3933570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+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6B22956-18C6-2B30-F47F-8687AB3B655E}"/>
              </a:ext>
            </a:extLst>
          </p:cNvPr>
          <p:cNvSpPr/>
          <p:nvPr/>
        </p:nvSpPr>
        <p:spPr>
          <a:xfrm>
            <a:off x="11192028" y="4459712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-</a:t>
            </a:r>
            <a:endParaRPr lang="ko-KR" altLang="en-US" sz="270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3CAF946-8251-E14C-9C6D-BD1C1F882A36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BAC5616-29E7-075E-53D1-46743C0A5386}"/>
              </a:ext>
            </a:extLst>
          </p:cNvPr>
          <p:cNvSpPr/>
          <p:nvPr/>
        </p:nvSpPr>
        <p:spPr>
          <a:xfrm>
            <a:off x="265862" y="3757436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0066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8CCA-4848-CF43-641D-33DE95421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736C8F4-B410-494F-467F-412E234A2F1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3349377" y="1811547"/>
          <a:ext cx="4529456" cy="37855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3393">
                  <a:extLst>
                    <a:ext uri="{9D8B030D-6E8A-4147-A177-3AD203B41FA5}">
                      <a16:colId xmlns:a16="http://schemas.microsoft.com/office/drawing/2014/main" val="1058643349"/>
                    </a:ext>
                  </a:extLst>
                </a:gridCol>
                <a:gridCol w="3636063">
                  <a:extLst>
                    <a:ext uri="{9D8B030D-6E8A-4147-A177-3AD203B41FA5}">
                      <a16:colId xmlns:a16="http://schemas.microsoft.com/office/drawing/2014/main" val="489965390"/>
                    </a:ext>
                  </a:extLst>
                </a:gridCol>
              </a:tblGrid>
              <a:tr h="71486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 dirty="0" err="1"/>
                        <a:t>No</a:t>
                      </a:r>
                      <a:r>
                        <a:rPr lang="ko-KR" altLang="en-US" sz="2100" dirty="0"/>
                        <a:t>.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100" err="1"/>
                        <a:t>Description</a:t>
                      </a:r>
                      <a:endParaRPr lang="ko-KR" altLang="en-US" sz="2100"/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978542"/>
                  </a:ext>
                </a:extLst>
              </a:tr>
              <a:tr h="10235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1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가나다순으로 서울시 구 정렬, 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클릭 시 해당 지역의 치매 센터 위치가 지도에 표시됨.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586788316"/>
                  </a:ext>
                </a:extLst>
              </a:tr>
              <a:tr h="7311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2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치매/복지 센터 선택 시 지도 </a:t>
                      </a:r>
                      <a:endParaRPr lang="ko-KR" sz="2700"/>
                    </a:p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위에 센터 위치 마커 표시됨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239589333"/>
                  </a:ext>
                </a:extLst>
              </a:tr>
              <a:tr h="13160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300" dirty="0"/>
                        <a:t>3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마커 표시 위에 마우스 오버 시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센터 이름</a:t>
                      </a:r>
                      <a:r>
                        <a:rPr lang="en-US" alt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,</a:t>
                      </a: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주소 정보 제공</a:t>
                      </a:r>
                    </a:p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ko-KR" altLang="en-US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센터 이름 클릭 시 해당 센터 사이트로 이동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864587259"/>
                  </a:ext>
                </a:extLst>
              </a:tr>
            </a:tbl>
          </a:graphicData>
        </a:graphic>
      </p:graphicFrame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90A2FC7-197D-2062-29B8-B1CA68650A1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29596" y="393452"/>
          <a:ext cx="17413638" cy="11614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9816">
                  <a:extLst>
                    <a:ext uri="{9D8B030D-6E8A-4147-A177-3AD203B41FA5}">
                      <a16:colId xmlns:a16="http://schemas.microsoft.com/office/drawing/2014/main" val="1489956848"/>
                    </a:ext>
                  </a:extLst>
                </a:gridCol>
                <a:gridCol w="9848586">
                  <a:extLst>
                    <a:ext uri="{9D8B030D-6E8A-4147-A177-3AD203B41FA5}">
                      <a16:colId xmlns:a16="http://schemas.microsoft.com/office/drawing/2014/main" val="3610614281"/>
                    </a:ext>
                  </a:extLst>
                </a:gridCol>
                <a:gridCol w="1831931">
                  <a:extLst>
                    <a:ext uri="{9D8B030D-6E8A-4147-A177-3AD203B41FA5}">
                      <a16:colId xmlns:a16="http://schemas.microsoft.com/office/drawing/2014/main" val="1582295136"/>
                    </a:ext>
                  </a:extLst>
                </a:gridCol>
                <a:gridCol w="3713306">
                  <a:extLst>
                    <a:ext uri="{9D8B030D-6E8A-4147-A177-3AD203B41FA5}">
                      <a16:colId xmlns:a16="http://schemas.microsoft.com/office/drawing/2014/main" val="2596439873"/>
                    </a:ext>
                  </a:extLst>
                </a:gridCol>
              </a:tblGrid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프로젝트명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독거 노인 위험 분석 기반 치매 위험도 예측 서비스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화면 경로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치매 센터 안내 페이지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162986121"/>
                  </a:ext>
                </a:extLst>
              </a:tr>
              <a:tr h="5807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설명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800" dirty="0"/>
                        <a:t>선택한 지역의 치매 센터 위치 제공 페이지</a:t>
                      </a:r>
                    </a:p>
                  </a:txBody>
                  <a:tcPr marL="137160" marR="137160" marT="68580" marB="6858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페이지 #</a:t>
                      </a:r>
                    </a:p>
                  </a:txBody>
                  <a:tcPr marL="137160" marR="137160" marT="68580" marB="6858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5</a:t>
                      </a:r>
                    </a:p>
                  </a:txBody>
                  <a:tcPr marL="137160" marR="137160" marT="68580" marB="68580" anchor="ctr"/>
                </a:tc>
                <a:extLst>
                  <a:ext uri="{0D108BD9-81ED-4DB2-BD59-A6C34878D82A}">
                    <a16:rowId xmlns:a16="http://schemas.microsoft.com/office/drawing/2014/main" val="3768826306"/>
                  </a:ext>
                </a:extLst>
              </a:tr>
            </a:tbl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0E7CFA25-E972-441D-2424-4DE7C6D039DF}"/>
              </a:ext>
            </a:extLst>
          </p:cNvPr>
          <p:cNvSpPr/>
          <p:nvPr/>
        </p:nvSpPr>
        <p:spPr>
          <a:xfrm>
            <a:off x="435063" y="1815353"/>
            <a:ext cx="12648357" cy="106079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5EA416-862A-F207-3887-BBEE4470A3A1}"/>
              </a:ext>
            </a:extLst>
          </p:cNvPr>
          <p:cNvSpPr txBox="1"/>
          <p:nvPr/>
        </p:nvSpPr>
        <p:spPr>
          <a:xfrm>
            <a:off x="3489485" y="2188174"/>
            <a:ext cx="1670100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질병 정보</a:t>
            </a:r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D8C3516-0120-96FE-6643-2B17932517CE}"/>
              </a:ext>
            </a:extLst>
          </p:cNvPr>
          <p:cNvSpPr txBox="1"/>
          <p:nvPr/>
        </p:nvSpPr>
        <p:spPr>
          <a:xfrm>
            <a:off x="10541577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>
                <a:ea typeface="맑은 고딕"/>
              </a:rPr>
              <a:t>로그인/회원가입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E4D7292C-A608-455F-A025-7B8D0D402819}"/>
              </a:ext>
            </a:extLst>
          </p:cNvPr>
          <p:cNvSpPr/>
          <p:nvPr/>
        </p:nvSpPr>
        <p:spPr>
          <a:xfrm>
            <a:off x="7961788" y="1804265"/>
            <a:ext cx="2478974" cy="1083623"/>
          </a:xfrm>
          <a:prstGeom prst="rect">
            <a:avLst/>
          </a:prstGeom>
          <a:solidFill>
            <a:srgbClr val="FFF0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27AFF28-1E8F-2D01-B653-EE9920EEF732}"/>
              </a:ext>
            </a:extLst>
          </p:cNvPr>
          <p:cNvSpPr txBox="1"/>
          <p:nvPr/>
        </p:nvSpPr>
        <p:spPr>
          <a:xfrm>
            <a:off x="5689220" y="2188174"/>
            <a:ext cx="2403344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dirty="0">
                <a:solidFill>
                  <a:srgbClr val="000000"/>
                </a:solidFill>
                <a:ea typeface="맑은 고딕"/>
              </a:rPr>
              <a:t>치매 예측 서비스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B396D7D-5729-6A8F-1D98-576C47EBC4D9}"/>
              </a:ext>
            </a:extLst>
          </p:cNvPr>
          <p:cNvSpPr txBox="1"/>
          <p:nvPr/>
        </p:nvSpPr>
        <p:spPr>
          <a:xfrm>
            <a:off x="5371062" y="5053035"/>
            <a:ext cx="4743408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6000" noProof="1">
                <a:solidFill>
                  <a:schemeClr val="bg1"/>
                </a:solidFill>
                <a:ea typeface="맑은 고딕"/>
              </a:rPr>
              <a:t>Image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4696B2A-CC88-FFF5-C200-26D535A036F6}"/>
              </a:ext>
            </a:extLst>
          </p:cNvPr>
          <p:cNvSpPr txBox="1"/>
          <p:nvPr/>
        </p:nvSpPr>
        <p:spPr>
          <a:xfrm>
            <a:off x="860958" y="2078180"/>
            <a:ext cx="1781298" cy="6001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3000" b="1" noProof="1">
                <a:solidFill>
                  <a:srgbClr val="0042C7"/>
                </a:solidFill>
                <a:ea typeface="맑은 고딕"/>
              </a:rPr>
              <a:t>SolCare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86C2F0A-7FFE-2631-88DD-6D9AA7982EB0}"/>
              </a:ext>
            </a:extLst>
          </p:cNvPr>
          <p:cNvSpPr txBox="1"/>
          <p:nvPr/>
        </p:nvSpPr>
        <p:spPr>
          <a:xfrm>
            <a:off x="8083050" y="2198959"/>
            <a:ext cx="2252382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 dirty="0">
                <a:ea typeface="맑은 고딕"/>
              </a:rPr>
              <a:t>치매 센터 안내</a:t>
            </a:r>
          </a:p>
        </p:txBody>
      </p:sp>
      <p:pic>
        <p:nvPicPr>
          <p:cNvPr id="3" name="그림 2" descr="텍스트, 지도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2F08AE-BCC5-546F-4A77-DCB96ACE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802" y="3560078"/>
            <a:ext cx="5616407" cy="5615370"/>
          </a:xfrm>
          <a:prstGeom prst="rect">
            <a:avLst/>
          </a:prstGeom>
        </p:spPr>
      </p:pic>
      <p:pic>
        <p:nvPicPr>
          <p:cNvPr id="4" name="그림 3" descr="텍스트, 폰트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8DF175-FE39-103F-FC01-81CD909D1D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43" t="-474" r="-3448" b="23842"/>
          <a:stretch>
            <a:fillRect/>
          </a:stretch>
        </p:blipFill>
        <p:spPr>
          <a:xfrm>
            <a:off x="4839695" y="3544204"/>
            <a:ext cx="1982825" cy="1202144"/>
          </a:xfrm>
          <a:prstGeom prst="rect">
            <a:avLst/>
          </a:prstGeom>
        </p:spPr>
      </p:pic>
      <p:sp>
        <p:nvSpPr>
          <p:cNvPr id="6" name="TextBox 25">
            <a:extLst>
              <a:ext uri="{FF2B5EF4-FFF2-40B4-BE49-F238E27FC236}">
                <a16:creationId xmlns:a16="http://schemas.microsoft.com/office/drawing/2014/main" id="{7953F62F-5BDF-41DA-E4E0-8358AEB833C4}"/>
              </a:ext>
            </a:extLst>
          </p:cNvPr>
          <p:cNvSpPr txBox="1"/>
          <p:nvPr/>
        </p:nvSpPr>
        <p:spPr>
          <a:xfrm>
            <a:off x="6040676" y="5273676"/>
            <a:ext cx="3395870" cy="461665"/>
          </a:xfrm>
          <a:prstGeom prst="rect">
            <a:avLst/>
          </a:prstGeom>
          <a:solidFill>
            <a:srgbClr val="E04343">
              <a:alpha val="94000"/>
            </a:srgbClr>
          </a:solidFill>
        </p:spPr>
        <p:txBody>
          <a:bodyPr rot="0" spcFirstLastPara="0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100" dirty="0">
                <a:solidFill>
                  <a:srgbClr val="FFFFFF"/>
                </a:solidFill>
                <a:ea typeface="맑은 고딕"/>
              </a:rPr>
              <a:t>강남구 치매안심센터</a:t>
            </a:r>
          </a:p>
        </p:txBody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232A2042-773B-5BF4-6247-4AC7204784AB}"/>
              </a:ext>
            </a:extLst>
          </p:cNvPr>
          <p:cNvSpPr txBox="1"/>
          <p:nvPr/>
        </p:nvSpPr>
        <p:spPr>
          <a:xfrm>
            <a:off x="6024111" y="5914718"/>
            <a:ext cx="3556521" cy="115416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50" err="1">
                <a:latin typeface="Malgun Gothic"/>
                <a:ea typeface="Malgun Gothic"/>
              </a:rPr>
              <a:t>서울특별시강남구치매안심센터</a:t>
            </a:r>
            <a:endParaRPr lang="ko-KR" altLang="en-US" sz="1650" dirty="0" err="1">
              <a:latin typeface="Malgun Gothic"/>
              <a:ea typeface="Malgun Gothic"/>
            </a:endParaRPr>
          </a:p>
          <a:p>
            <a:r>
              <a:rPr lang="ko-KR" altLang="en-US" sz="1650" dirty="0">
                <a:latin typeface="Malgun Gothic"/>
                <a:ea typeface="Malgun Gothic"/>
              </a:rPr>
              <a:t>주소</a:t>
            </a:r>
          </a:p>
          <a:p>
            <a:r>
              <a:rPr lang="ko-KR" altLang="en-US" sz="1650" dirty="0">
                <a:latin typeface="Malgun Gothic"/>
                <a:ea typeface="Malgun Gothic"/>
              </a:rPr>
              <a:t>서울 강남구 선릉로</a:t>
            </a:r>
            <a:r>
              <a:rPr lang="en-US" altLang="ko-KR" sz="1650" dirty="0">
                <a:latin typeface="Malgun Gothic"/>
                <a:ea typeface="Malgun Gothic"/>
              </a:rPr>
              <a:t>108</a:t>
            </a:r>
            <a:r>
              <a:rPr lang="ko-KR" altLang="en-US" sz="1650" dirty="0">
                <a:latin typeface="Malgun Gothic"/>
                <a:ea typeface="Malgun Gothic"/>
              </a:rPr>
              <a:t>길 </a:t>
            </a:r>
            <a:r>
              <a:rPr lang="en-US" altLang="ko-KR" sz="1650" dirty="0">
                <a:latin typeface="Malgun Gothic"/>
                <a:ea typeface="Malgun Gothic"/>
              </a:rPr>
              <a:t>27 (</a:t>
            </a:r>
            <a:r>
              <a:rPr lang="ko-KR" altLang="en-US" sz="1650" dirty="0">
                <a:latin typeface="Malgun Gothic"/>
                <a:ea typeface="Malgun Gothic"/>
              </a:rPr>
              <a:t>삼성동</a:t>
            </a:r>
            <a:r>
              <a:rPr lang="en-US" altLang="ko-KR" sz="1650" dirty="0">
                <a:latin typeface="Malgun Gothic"/>
                <a:ea typeface="Malgun Gothic"/>
              </a:rPr>
              <a:t>, </a:t>
            </a:r>
            <a:r>
              <a:rPr lang="ko-KR" altLang="en-US" sz="1650" dirty="0" err="1">
                <a:latin typeface="Malgun Gothic"/>
                <a:ea typeface="Malgun Gothic"/>
              </a:rPr>
              <a:t>강남구치매지원센터</a:t>
            </a:r>
            <a:r>
              <a:rPr lang="en-US" altLang="ko-KR" sz="1650" dirty="0">
                <a:latin typeface="Malgun Gothic"/>
                <a:ea typeface="Malgun Gothic"/>
              </a:rPr>
              <a:t>)</a:t>
            </a:r>
            <a:endParaRPr lang="ko-KR" altLang="en-US" sz="27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DFF3A01-BE28-D5B2-393D-95B5B6803A8B}"/>
              </a:ext>
            </a:extLst>
          </p:cNvPr>
          <p:cNvSpPr/>
          <p:nvPr/>
        </p:nvSpPr>
        <p:spPr>
          <a:xfrm>
            <a:off x="5086145" y="3799059"/>
            <a:ext cx="662609" cy="657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500" dirty="0">
                <a:ea typeface="맑은 고딕"/>
              </a:rPr>
              <a:t>복지센터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26D81A6-A14A-17B8-8C68-271793D63DBF}"/>
              </a:ext>
            </a:extLst>
          </p:cNvPr>
          <p:cNvSpPr/>
          <p:nvPr/>
        </p:nvSpPr>
        <p:spPr>
          <a:xfrm>
            <a:off x="5905654" y="3799056"/>
            <a:ext cx="662609" cy="65760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37160" tIns="68580" rIns="137160" bIns="6858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500" dirty="0">
                <a:ea typeface="맑은 고딕"/>
              </a:rPr>
              <a:t>치매센터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8FEE6CA0-BA13-AB33-E31E-5BDAFE27B9AF}"/>
              </a:ext>
            </a:extLst>
          </p:cNvPr>
          <p:cNvSpPr/>
          <p:nvPr/>
        </p:nvSpPr>
        <p:spPr>
          <a:xfrm>
            <a:off x="506597" y="3433757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B698BA19-1FCB-A8A2-B3AD-EB964034B45D}"/>
              </a:ext>
            </a:extLst>
          </p:cNvPr>
          <p:cNvGraphicFramePr>
            <a:graphicFrameLocks noGrp="1"/>
          </p:cNvGraphicFramePr>
          <p:nvPr/>
        </p:nvGraphicFramePr>
        <p:xfrm>
          <a:off x="438150" y="2914650"/>
          <a:ext cx="2386071" cy="69321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6071">
                  <a:extLst>
                    <a:ext uri="{9D8B030D-6E8A-4147-A177-3AD203B41FA5}">
                      <a16:colId xmlns:a16="http://schemas.microsoft.com/office/drawing/2014/main" val="1681676397"/>
                    </a:ext>
                  </a:extLst>
                </a:gridCol>
              </a:tblGrid>
              <a:tr h="94277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2100">
                          <a:solidFill>
                            <a:schemeClr val="tx1"/>
                          </a:solidFill>
                        </a:rPr>
                        <a:t>지역 선택</a:t>
                      </a:r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0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0161672"/>
                  </a:ext>
                </a:extLst>
              </a:tr>
              <a:tr h="598937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ko-KR" altLang="en-US" sz="1800"/>
                    </a:p>
                  </a:txBody>
                  <a:tcPr marL="137160" marR="137160" marT="68580" marB="6858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73059"/>
                  </a:ext>
                </a:extLst>
              </a:tr>
            </a:tbl>
          </a:graphicData>
        </a:graphic>
      </p:graphicFrame>
      <p:sp>
        <p:nvSpPr>
          <p:cNvPr id="38" name="직사각형 37">
            <a:extLst>
              <a:ext uri="{FF2B5EF4-FFF2-40B4-BE49-F238E27FC236}">
                <a16:creationId xmlns:a16="http://schemas.microsoft.com/office/drawing/2014/main" id="{09E90984-2180-E383-83FD-C5E87A534CF0}"/>
              </a:ext>
            </a:extLst>
          </p:cNvPr>
          <p:cNvSpPr/>
          <p:nvPr/>
        </p:nvSpPr>
        <p:spPr>
          <a:xfrm>
            <a:off x="427665" y="1809721"/>
            <a:ext cx="12649029" cy="803791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4CDBB81-5F6A-E434-138F-D4576A3E5C67}"/>
              </a:ext>
            </a:extLst>
          </p:cNvPr>
          <p:cNvSpPr/>
          <p:nvPr/>
        </p:nvSpPr>
        <p:spPr>
          <a:xfrm>
            <a:off x="9854936" y="3804174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+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8EF8000-97DD-1CF1-FBBA-5C73E9FA94FE}"/>
              </a:ext>
            </a:extLst>
          </p:cNvPr>
          <p:cNvSpPr/>
          <p:nvPr/>
        </p:nvSpPr>
        <p:spPr>
          <a:xfrm>
            <a:off x="9854934" y="4330316"/>
            <a:ext cx="354723" cy="35472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chemeClr val="tx1"/>
                </a:solidFill>
                <a:ea typeface="맑은 고딕"/>
              </a:rPr>
              <a:t>-</a:t>
            </a:r>
            <a:endParaRPr lang="ko-KR" altLang="en-US" sz="2700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3AD6F1C-3C8D-09FD-6DEC-F951698E33F4}"/>
              </a:ext>
            </a:extLst>
          </p:cNvPr>
          <p:cNvSpPr/>
          <p:nvPr/>
        </p:nvSpPr>
        <p:spPr>
          <a:xfrm>
            <a:off x="607399" y="4008657"/>
            <a:ext cx="2061740" cy="651075"/>
          </a:xfrm>
          <a:prstGeom prst="roundRect">
            <a:avLst/>
          </a:prstGeom>
          <a:solidFill>
            <a:srgbClr val="EBCE5E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b="1" dirty="0">
                <a:solidFill>
                  <a:schemeClr val="bg1"/>
                </a:solidFill>
                <a:ea typeface="맑은 고딕"/>
              </a:rPr>
              <a:t>강남구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47F469BE-D653-85A8-67E2-438A6E6D4BD7}"/>
              </a:ext>
            </a:extLst>
          </p:cNvPr>
          <p:cNvSpPr/>
          <p:nvPr/>
        </p:nvSpPr>
        <p:spPr>
          <a:xfrm>
            <a:off x="607399" y="473255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강동구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79C1323-9810-B4BA-1340-B7E62774990E}"/>
              </a:ext>
            </a:extLst>
          </p:cNvPr>
          <p:cNvSpPr/>
          <p:nvPr/>
        </p:nvSpPr>
        <p:spPr>
          <a:xfrm>
            <a:off x="607399" y="543740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강북구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CE4E2C43-8871-A563-3A57-6DD20B5B27E3}"/>
              </a:ext>
            </a:extLst>
          </p:cNvPr>
          <p:cNvSpPr/>
          <p:nvPr/>
        </p:nvSpPr>
        <p:spPr>
          <a:xfrm>
            <a:off x="607399" y="6142256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강서구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03C8B78-AB90-9E0A-C537-49E0467E4E7D}"/>
              </a:ext>
            </a:extLst>
          </p:cNvPr>
          <p:cNvSpPr/>
          <p:nvPr/>
        </p:nvSpPr>
        <p:spPr>
          <a:xfrm>
            <a:off x="607399" y="6866154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관악구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859DC6B-4C17-14C8-BB50-392B6AD0D4F4}"/>
              </a:ext>
            </a:extLst>
          </p:cNvPr>
          <p:cNvSpPr/>
          <p:nvPr/>
        </p:nvSpPr>
        <p:spPr>
          <a:xfrm>
            <a:off x="607399" y="7571004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rgbClr val="000000"/>
                </a:solidFill>
                <a:ea typeface="맑은 고딕"/>
              </a:rPr>
              <a:t>광진구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DF445D5-4CD5-4028-AC4D-EAF7D5E27D4D}"/>
              </a:ext>
            </a:extLst>
          </p:cNvPr>
          <p:cNvSpPr/>
          <p:nvPr/>
        </p:nvSpPr>
        <p:spPr>
          <a:xfrm>
            <a:off x="607399" y="8214035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solidFill>
                  <a:schemeClr val="tx1"/>
                </a:solidFill>
                <a:ea typeface="맑은 고딕"/>
              </a:rPr>
              <a:t>구로구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31426C4-0672-75E3-FDE2-CFD5A49B58AF}"/>
              </a:ext>
            </a:extLst>
          </p:cNvPr>
          <p:cNvSpPr/>
          <p:nvPr/>
        </p:nvSpPr>
        <p:spPr>
          <a:xfrm>
            <a:off x="585833" y="8851670"/>
            <a:ext cx="2061740" cy="65107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>
                <a:solidFill>
                  <a:srgbClr val="000000"/>
                </a:solidFill>
                <a:ea typeface="맑은 고딕"/>
              </a:rPr>
              <a:t>금천구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950F82CE-DC31-43DF-0580-8FADD9E85288}"/>
              </a:ext>
            </a:extLst>
          </p:cNvPr>
          <p:cNvSpPr/>
          <p:nvPr/>
        </p:nvSpPr>
        <p:spPr>
          <a:xfrm>
            <a:off x="438391" y="3800569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100">
                <a:ea typeface="맑은 고딕"/>
              </a:rPr>
              <a:t>1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BF34A7A1-FED1-490E-9EB1-73D7FCA59671}"/>
              </a:ext>
            </a:extLst>
          </p:cNvPr>
          <p:cNvSpPr/>
          <p:nvPr/>
        </p:nvSpPr>
        <p:spPr>
          <a:xfrm>
            <a:off x="4686899" y="3239851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2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E3501F7-6930-0251-54B3-201CFB2FB0DC}"/>
              </a:ext>
            </a:extLst>
          </p:cNvPr>
          <p:cNvSpPr/>
          <p:nvPr/>
        </p:nvSpPr>
        <p:spPr>
          <a:xfrm>
            <a:off x="5549542" y="4749473"/>
            <a:ext cx="675224" cy="6449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68580" rIns="137160" bIns="68580" rtlCol="0" anchor="ctr"/>
          <a:lstStyle/>
          <a:p>
            <a:pPr algn="ctr"/>
            <a:r>
              <a:rPr lang="ko-KR" altLang="en-US" sz="2100" dirty="0">
                <a:ea typeface="맑은 고딕"/>
              </a:rPr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26D107-7F01-3E7E-FB49-B06C2FFE2D6A}"/>
              </a:ext>
            </a:extLst>
          </p:cNvPr>
          <p:cNvSpPr txBox="1"/>
          <p:nvPr/>
        </p:nvSpPr>
        <p:spPr>
          <a:xfrm>
            <a:off x="10554359" y="9317120"/>
            <a:ext cx="2540481" cy="4154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맑은 고딕"/>
              </a:rPr>
              <a:t>* 예시 이미지입니다.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345A32-0E58-DBDB-582A-FC4511311899}"/>
              </a:ext>
            </a:extLst>
          </p:cNvPr>
          <p:cNvSpPr txBox="1"/>
          <p:nvPr/>
        </p:nvSpPr>
        <p:spPr>
          <a:xfrm>
            <a:off x="16252520" y="6482219"/>
            <a:ext cx="3601232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ko-KR" altLang="en-US" sz="2700"/>
          </a:p>
        </p:txBody>
      </p:sp>
    </p:spTree>
    <p:extLst>
      <p:ext uri="{BB962C8B-B14F-4D97-AF65-F5344CB8AC3E}">
        <p14:creationId xmlns:p14="http://schemas.microsoft.com/office/powerpoint/2010/main" val="79915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>
            <a:extLst>
              <a:ext uri="{FF2B5EF4-FFF2-40B4-BE49-F238E27FC236}">
                <a16:creationId xmlns:a16="http://schemas.microsoft.com/office/drawing/2014/main" id="{1F6337D2-4EEE-8288-B11C-D1A863B9F960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설계 어떻게 했는지 작성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(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안 했으면 패스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하면 도움이 됨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)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UML(</a:t>
            </a:r>
            <a:r>
              <a:rPr lang="en-US" altLang="ko-KR" sz="4800" b="1" i="0" u="none" strike="noStrike" cap="none" dirty="0" err="1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Usecase</a:t>
            </a: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/Sequence/Class)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96925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ER Diagram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66F50882-C8E9-4842-9F06-C0869AD08D20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그냥 쓰면 된다고 하셨는데 강의록 확인해보자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33306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dirty="0" err="1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머신러닝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 결과서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59B0AA4B-6E56-4908-85D0-3340463CF682}"/>
              </a:ext>
            </a:extLst>
          </p:cNvPr>
          <p:cNvSpPr txBox="1"/>
          <p:nvPr/>
        </p:nvSpPr>
        <p:spPr>
          <a:xfrm>
            <a:off x="936600" y="2324100"/>
            <a:ext cx="164148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머신러닝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손실에 대한 걸 반드시 넣어야 한다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내꺼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rag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돌린 게 다른 </a:t>
            </a:r>
            <a:r>
              <a:rPr lang="en-US" altLang="ko-KR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llm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보다 더 잘 나오는 것도 보여주기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여기가 내가 논리적인 사람임을 어필하는 부분이므로 중요하다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내 문제 해결 능력을 어필해야 함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279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112014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주요 서비스 기능 및 소스 코드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(1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차 프로젝트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)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7159FE0E-1517-44A5-95F2-4C6A7A616FFC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1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차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: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머신러닝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돌리고 </a:t>
            </a:r>
            <a:r>
              <a:rPr lang="en-US" altLang="ko-KR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ui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개발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9" name="Google Shape;162;p18">
            <a:extLst>
              <a:ext uri="{FF2B5EF4-FFF2-40B4-BE49-F238E27FC236}">
                <a16:creationId xmlns:a16="http://schemas.microsoft.com/office/drawing/2014/main" id="{9EEDEC6A-6EEC-4D9A-B270-1B9573352AE6}"/>
              </a:ext>
            </a:extLst>
          </p:cNvPr>
          <p:cNvSpPr txBox="1"/>
          <p:nvPr/>
        </p:nvSpPr>
        <p:spPr>
          <a:xfrm>
            <a:off x="936600" y="47625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코드는 화이트 테마로 덤프 떠서 작성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9803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161798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주요 서비스 기능 및 소스 코드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(2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차 프로젝트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)(Flask, Generative AI, AI Agent &amp; RAG)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8" name="Google Shape;162;p18">
            <a:extLst>
              <a:ext uri="{FF2B5EF4-FFF2-40B4-BE49-F238E27FC236}">
                <a16:creationId xmlns:a16="http://schemas.microsoft.com/office/drawing/2014/main" id="{35F09A7D-27AA-45E3-A78C-9C1492F550D5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2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차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: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플라스크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(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백엔드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)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개발하고 </a:t>
            </a:r>
            <a:r>
              <a:rPr lang="en-US" altLang="ko-KR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ui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에 붙이기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에이전트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,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래그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  <p:sp>
        <p:nvSpPr>
          <p:cNvPr id="9" name="Google Shape;162;p18">
            <a:extLst>
              <a:ext uri="{FF2B5EF4-FFF2-40B4-BE49-F238E27FC236}">
                <a16:creationId xmlns:a16="http://schemas.microsoft.com/office/drawing/2014/main" id="{7C0CA0D9-98B1-47CD-A5A9-86717D1026BD}"/>
              </a:ext>
            </a:extLst>
          </p:cNvPr>
          <p:cNvSpPr txBox="1"/>
          <p:nvPr/>
        </p:nvSpPr>
        <p:spPr>
          <a:xfrm>
            <a:off x="952500" y="4543351"/>
            <a:ext cx="1641480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ko-KR" altLang="en-US" sz="4400" dirty="0"/>
              <a:t>텍스트 생성</a:t>
            </a:r>
            <a:r>
              <a:rPr lang="en-US" altLang="ko-KR" sz="4400" dirty="0"/>
              <a:t>, </a:t>
            </a:r>
            <a:r>
              <a:rPr lang="ko-KR" altLang="en-US" sz="4400" dirty="0"/>
              <a:t>번역하고 이런 거 하고 </a:t>
            </a:r>
            <a:r>
              <a:rPr lang="ko-KR" altLang="en-US" sz="4400" dirty="0" err="1"/>
              <a:t>래그도</a:t>
            </a:r>
            <a:r>
              <a:rPr lang="ko-KR" altLang="en-US" sz="4400" dirty="0"/>
              <a:t> 한 거 작성</a:t>
            </a:r>
          </a:p>
          <a:p>
            <a:pPr lvl="0"/>
            <a:r>
              <a:rPr lang="ko-KR" altLang="en-US" sz="4400" dirty="0" err="1"/>
              <a:t>지피티가</a:t>
            </a:r>
            <a:r>
              <a:rPr lang="ko-KR" altLang="en-US" sz="4400" dirty="0"/>
              <a:t> 못 하는 자세한 내용 물어보면 대답해줄 수 있는 걸로 작성하자</a:t>
            </a:r>
          </a:p>
        </p:txBody>
      </p:sp>
    </p:spTree>
    <p:extLst>
      <p:ext uri="{BB962C8B-B14F-4D97-AF65-F5344CB8AC3E}">
        <p14:creationId xmlns:p14="http://schemas.microsoft.com/office/powerpoint/2010/main" val="17529368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161798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주요 서비스 기능 및 소스 코드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(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추가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 </a:t>
            </a:r>
            <a:r>
              <a:rPr lang="ko-KR" altLang="en-US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</a:t>
            </a: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(Option)(Llama3 Fine-tuning, Spring/Restful Service)</a:t>
            </a: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884FC904-8F99-4A03-9454-3E2260161471}"/>
              </a:ext>
            </a:extLst>
          </p:cNvPr>
          <p:cNvSpPr txBox="1"/>
          <p:nvPr/>
        </p:nvSpPr>
        <p:spPr>
          <a:xfrm>
            <a:off x="936600" y="2324100"/>
            <a:ext cx="16414800" cy="323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이걸 해봤으면 라마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3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파인튜닝한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걸 꼭 넣자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배우면서 하면 됨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난이도 있기 때문에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파인튜닝하고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이런 거 어떻게 했는지 적으면 좋음</a:t>
            </a:r>
            <a:endParaRPr lang="ko-KR" altLang="en-US" sz="3600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27816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4800" b="1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Software Architecture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A1FBBB01-1805-4B7D-B37B-281AFF486223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윤지씨는 했다고 하시던데 물어보면 될 듯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…</a:t>
            </a:r>
          </a:p>
        </p:txBody>
      </p:sp>
      <p:sp>
        <p:nvSpPr>
          <p:cNvPr id="8" name="Google Shape;162;p18">
            <a:extLst>
              <a:ext uri="{FF2B5EF4-FFF2-40B4-BE49-F238E27FC236}">
                <a16:creationId xmlns:a16="http://schemas.microsoft.com/office/drawing/2014/main" id="{B0949879-F355-42FD-B1DD-9C6F693BBAB5}"/>
              </a:ext>
            </a:extLst>
          </p:cNvPr>
          <p:cNvSpPr txBox="1"/>
          <p:nvPr/>
        </p:nvSpPr>
        <p:spPr>
          <a:xfrm>
            <a:off x="952500" y="5029348"/>
            <a:ext cx="16414800" cy="2215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다른분은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플라스크 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restful </a:t>
            </a:r>
            <a:r>
              <a:rPr lang="en-US" altLang="ko-KR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api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스프링 해서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내꺼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형태 그린 다음에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레스트풀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서비스 된다는 걸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어필했었네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84976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시연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5CAD2DFE-2F93-40B9-B719-1B0655C1E1DD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조장이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한다던데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 발표 </a:t>
            </a:r>
            <a:r>
              <a:rPr lang="ko-KR" altLang="en-US" sz="4400" b="1" dirty="0" err="1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관련인가봄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9434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향후 개발 계획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57CE0395-1FF9-4902-9065-6D3FD5F5AFFF}"/>
              </a:ext>
            </a:extLst>
          </p:cNvPr>
          <p:cNvSpPr txBox="1"/>
          <p:nvPr/>
        </p:nvSpPr>
        <p:spPr>
          <a:xfrm>
            <a:off x="936600" y="2324100"/>
            <a:ext cx="16414800" cy="1200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나중에 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~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하면 좋겠다 이런 거 쓰면 된다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220319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>
          <a:extLst>
            <a:ext uri="{FF2B5EF4-FFF2-40B4-BE49-F238E27FC236}">
              <a16:creationId xmlns:a16="http://schemas.microsoft.com/office/drawing/2014/main" id="{CED28B25-6AA5-2F74-653D-7EC5D5F8B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8">
            <a:extLst>
              <a:ext uri="{FF2B5EF4-FFF2-40B4-BE49-F238E27FC236}">
                <a16:creationId xmlns:a16="http://schemas.microsoft.com/office/drawing/2014/main" id="{52A9B252-C955-0EF1-3255-F47A0DF4BE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>
            <a:off x="482600" y="1168400"/>
            <a:ext cx="876300" cy="6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59;p18">
            <a:extLst>
              <a:ext uri="{FF2B5EF4-FFF2-40B4-BE49-F238E27FC236}">
                <a16:creationId xmlns:a16="http://schemas.microsoft.com/office/drawing/2014/main" id="{DAD05603-817E-B30C-85CF-0C8EF4E53988}"/>
              </a:ext>
            </a:extLst>
          </p:cNvPr>
          <p:cNvSpPr txBox="1"/>
          <p:nvPr/>
        </p:nvSpPr>
        <p:spPr>
          <a:xfrm>
            <a:off x="1219200" y="787400"/>
            <a:ext cx="9461500" cy="8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800" b="1" i="0" u="none" strike="noStrike" cap="none" dirty="0">
                <a:solidFill>
                  <a:srgbClr val="585755"/>
                </a:solidFill>
                <a:latin typeface="Kim jung chul Gothic Bold" panose="020B0600000101010101" charset="-127"/>
                <a:ea typeface="Kim jung chul Gothic Bold" panose="020B0600000101010101" charset="-127"/>
                <a:cs typeface="Calibri"/>
                <a:sym typeface="Calibri"/>
              </a:rPr>
              <a:t>프로젝트 수행 소감</a:t>
            </a:r>
            <a:endParaRPr sz="4800" b="1" i="0" u="none" strike="noStrike" cap="none" dirty="0">
              <a:solidFill>
                <a:srgbClr val="585755"/>
              </a:solidFill>
              <a:latin typeface="Kim jung chul Gothic Bold" panose="020B0600000101010101" charset="-127"/>
              <a:ea typeface="Kim jung chul Gothic Bold" panose="020B0600000101010101" charset="-127"/>
              <a:cs typeface="Calibri"/>
              <a:sym typeface="Calibri"/>
            </a:endParaRPr>
          </a:p>
        </p:txBody>
      </p:sp>
      <p:sp>
        <p:nvSpPr>
          <p:cNvPr id="7" name="Google Shape;162;p18">
            <a:extLst>
              <a:ext uri="{FF2B5EF4-FFF2-40B4-BE49-F238E27FC236}">
                <a16:creationId xmlns:a16="http://schemas.microsoft.com/office/drawing/2014/main" id="{E71B2EFF-1D98-4542-94A2-BDA818E8B1EA}"/>
              </a:ext>
            </a:extLst>
          </p:cNvPr>
          <p:cNvSpPr txBox="1"/>
          <p:nvPr/>
        </p:nvSpPr>
        <p:spPr>
          <a:xfrm>
            <a:off x="936600" y="2324100"/>
            <a:ext cx="16414800" cy="424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여기를 리얼하게 작성해야 한다 해봤으니까 밤도 새 보고 삽질도 하고 해서 해결했다는 걸 적기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많다고 좋은 건 아니고 </a:t>
            </a:r>
            <a:r>
              <a:rPr lang="en-US" altLang="ko-KR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2</a:t>
            </a: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개 정도면 충분하다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  <a:p>
            <a:pPr>
              <a:lnSpc>
                <a:spcPct val="150000"/>
              </a:lnSpc>
            </a:pPr>
            <a:r>
              <a:rPr lang="ko-KR" altLang="en-US" sz="4400" b="1" dirty="0">
                <a:solidFill>
                  <a:schemeClr val="dk1"/>
                </a:solidFill>
                <a:latin typeface="Kim jung chul Gothic Regular" panose="020B0600000101010101" charset="-127"/>
                <a:ea typeface="Kim jung chul Gothic Regular" panose="020B0600000101010101" charset="-127"/>
                <a:cs typeface="Calibri"/>
                <a:sym typeface="Calibri"/>
              </a:rPr>
              <a:t>어떻게 했는지를 보여주면 됨</a:t>
            </a:r>
            <a:endParaRPr lang="en-US" altLang="ko-KR" sz="4400" b="1" dirty="0">
              <a:solidFill>
                <a:schemeClr val="dk1"/>
              </a:solidFill>
              <a:latin typeface="Kim jung chul Gothic Regular" panose="020B0600000101010101" charset="-127"/>
              <a:ea typeface="Kim jung chul Gothic Regular" panose="020B0600000101010101" charset="-127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1330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728</TotalTime>
  <Words>1798</Words>
  <Application>Microsoft Office PowerPoint</Application>
  <PresentationFormat>사용자 지정</PresentationFormat>
  <Paragraphs>488</Paragraphs>
  <Slides>31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2" baseType="lpstr">
      <vt:lpstr>Pretendard Regular</vt:lpstr>
      <vt:lpstr>Calibri</vt:lpstr>
      <vt:lpstr>Arial</vt:lpstr>
      <vt:lpstr>맑은 고딕</vt:lpstr>
      <vt:lpstr>맑은 고딕</vt:lpstr>
      <vt:lpstr>Kim jung chul Gothic Bold</vt:lpstr>
      <vt:lpstr>Aptos Narrow</vt:lpstr>
      <vt:lpstr>CookieRun Regular</vt:lpstr>
      <vt:lpstr>Kim jung chul Gothic Regular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502-30</cp:lastModifiedBy>
  <cp:revision>24</cp:revision>
  <dcterms:created xsi:type="dcterms:W3CDTF">2006-08-16T00:00:00Z</dcterms:created>
  <dcterms:modified xsi:type="dcterms:W3CDTF">2025-08-29T00:38:02Z</dcterms:modified>
</cp:coreProperties>
</file>